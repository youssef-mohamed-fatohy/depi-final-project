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90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confidently with the project title and framing - this is a real client-style presentation.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round: each teammate says their name only, keep it moving fast.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fictional client brief in plain language. Set up the 3-step process shown on screen: Clean, Query, Visualize.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dataset scale (9,800 orders, 18 columns, 2015-2019, 3 categories). Mention the field list briefly.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30-second summary of both cleaning stages before diving into the two detailed workflow slides that follow.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notebook screenshot - point at the missing value count (11) and explain how you traced and fixed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SQL screenshot - walk through each query left to right, then land on the two findings: matching null count and zero invalid sales rows.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slide is the heart of the talk - slow down here. One sentence per card.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supporting data slide - let the bars speak while you emphasize the closing line about Standard Class vs Same Day shipping.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Power BI dashboard as the deliverable. Point at each bullet on the right while gesturing to the image.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faster here - 10-15 seconds per panel. Name what's on each panel without re-explaining insights already covered.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invite questions, end on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65760"/>
          </a:xfrm>
          <a:prstGeom prst="rect">
            <a:avLst/>
          </a:prstGeom>
          <a:noFill/>
          <a:ln/>
        </p:spPr>
        <p:txBody>
          <a:bodyPr wrap="square" lIns="0" tIns="0" rIns="0" bIns="0" rtlCol="0" anchor="ctr"/>
          <a:lstStyle/>
          <a:p>
            <a:pPr marL="0" indent="0">
              <a:buNone/>
            </a:pPr>
            <a:r>
              <a:rPr lang="en-US" sz="1300" b="1" kern="0" spc="200" dirty="0">
                <a:solidFill>
                  <a:srgbClr val="6B6B70"/>
                </a:solidFill>
                <a:latin typeface="Arial" pitchFamily="34" charset="0"/>
                <a:ea typeface="Arial" pitchFamily="34" charset="-122"/>
                <a:cs typeface="Arial" pitchFamily="34" charset="-120"/>
              </a:rPr>
              <a:t>CASE STUDY  ·  RETAIL SALES ANALYTICS</a:t>
            </a:r>
            <a:endParaRPr lang="en-US" sz="1300" dirty="0"/>
          </a:p>
        </p:txBody>
      </p:sp>
      <p:sp>
        <p:nvSpPr>
          <p:cNvPr id="3" name="Text 1"/>
          <p:cNvSpPr/>
          <p:nvPr/>
        </p:nvSpPr>
        <p:spPr>
          <a:xfrm>
            <a:off x="777240" y="1783080"/>
            <a:ext cx="10515600" cy="2377440"/>
          </a:xfrm>
          <a:prstGeom prst="rect">
            <a:avLst/>
          </a:prstGeom>
          <a:noFill/>
          <a:ln/>
        </p:spPr>
        <p:txBody>
          <a:bodyPr wrap="square" lIns="0" tIns="0" rIns="0" bIns="0" rtlCol="0" anchor="ctr"/>
          <a:lstStyle/>
          <a:p>
            <a:pPr marL="0" indent="0">
              <a:lnSpc>
                <a:spcPct val="102000"/>
              </a:lnSpc>
              <a:buNone/>
            </a:pPr>
            <a:r>
              <a:rPr lang="en-US" sz="5400" b="1" dirty="0">
                <a:solidFill>
                  <a:srgbClr val="0B0B0F"/>
                </a:solidFill>
                <a:latin typeface="Arial" pitchFamily="34" charset="0"/>
                <a:ea typeface="Arial" pitchFamily="34" charset="-122"/>
                <a:cs typeface="Arial" pitchFamily="34" charset="-120"/>
              </a:rPr>
              <a:t>From Raw Rows to</a:t>
            </a:r>
            <a:endParaRPr lang="en-US" sz="5400" dirty="0"/>
          </a:p>
          <a:p>
            <a:pPr marL="0" indent="0">
              <a:lnSpc>
                <a:spcPct val="102000"/>
              </a:lnSpc>
              <a:buNone/>
            </a:pPr>
            <a:r>
              <a:rPr lang="en-US" sz="5400" b="1" dirty="0">
                <a:solidFill>
                  <a:srgbClr val="0B0B0F"/>
                </a:solidFill>
                <a:latin typeface="Arial" pitchFamily="34" charset="0"/>
                <a:ea typeface="Arial" pitchFamily="34" charset="-122"/>
                <a:cs typeface="Arial" pitchFamily="34" charset="-120"/>
              </a:rPr>
              <a:t>Retail </a:t>
            </a:r>
            <a:r>
              <a:rPr lang="en-US" sz="5400" b="1" dirty="0">
                <a:solidFill>
                  <a:srgbClr val="108EFF"/>
                </a:solidFill>
                <a:latin typeface="Arial" pitchFamily="34" charset="0"/>
                <a:ea typeface="Arial" pitchFamily="34" charset="-122"/>
                <a:cs typeface="Arial" pitchFamily="34" charset="-120"/>
              </a:rPr>
              <a:t>Insight</a:t>
            </a:r>
            <a:endParaRPr lang="en-US" sz="5400" dirty="0"/>
          </a:p>
        </p:txBody>
      </p:sp>
      <p:sp>
        <p:nvSpPr>
          <p:cNvPr id="4" name="Text 2"/>
          <p:cNvSpPr/>
          <p:nvPr/>
        </p:nvSpPr>
        <p:spPr>
          <a:xfrm>
            <a:off x="822960" y="4160520"/>
            <a:ext cx="8686800" cy="457200"/>
          </a:xfrm>
          <a:prstGeom prst="rect">
            <a:avLst/>
          </a:prstGeom>
          <a:noFill/>
          <a:ln/>
        </p:spPr>
        <p:txBody>
          <a:bodyPr wrap="square" lIns="0" tIns="0" rIns="0" bIns="0" rtlCol="0" anchor="ctr"/>
          <a:lstStyle/>
          <a:p>
            <a:pPr marL="0" indent="0">
              <a:buNone/>
            </a:pPr>
            <a:r>
              <a:rPr lang="en-US" sz="1700" dirty="0">
                <a:solidFill>
                  <a:srgbClr val="6B6B70"/>
                </a:solidFill>
                <a:latin typeface="Arial" pitchFamily="34" charset="0"/>
                <a:ea typeface="Arial" pitchFamily="34" charset="-122"/>
                <a:cs typeface="Arial" pitchFamily="34" charset="-120"/>
              </a:rPr>
              <a:t>A Superstore Sales Analysis — presented as a freelance client project</a:t>
            </a:r>
            <a:endParaRPr lang="en-US" sz="1700" dirty="0"/>
          </a:p>
        </p:txBody>
      </p:sp>
      <p:sp>
        <p:nvSpPr>
          <p:cNvPr id="5" name="Shape 3"/>
          <p:cNvSpPr/>
          <p:nvPr/>
        </p:nvSpPr>
        <p:spPr>
          <a:xfrm>
            <a:off x="841248" y="4800600"/>
            <a:ext cx="1463040" cy="0"/>
          </a:xfrm>
          <a:prstGeom prst="line">
            <a:avLst/>
          </a:prstGeom>
          <a:noFill/>
          <a:ln w="38100">
            <a:solidFill>
              <a:srgbClr val="108EFF"/>
            </a:solidFill>
            <a:prstDash val="solid"/>
          </a:ln>
        </p:spPr>
        <p:txBody>
          <a:bodyPr/>
          <a:lstStyle/>
          <a:p>
            <a:endParaRPr lang="en-US"/>
          </a:p>
        </p:txBody>
      </p:sp>
      <p:sp>
        <p:nvSpPr>
          <p:cNvPr id="6" name="Text 4"/>
          <p:cNvSpPr/>
          <p:nvPr/>
        </p:nvSpPr>
        <p:spPr>
          <a:xfrm>
            <a:off x="822960" y="4956048"/>
            <a:ext cx="7315200" cy="365760"/>
          </a:xfrm>
          <a:prstGeom prst="rect">
            <a:avLst/>
          </a:prstGeom>
          <a:noFill/>
          <a:ln/>
        </p:spPr>
        <p:txBody>
          <a:bodyPr wrap="square" lIns="0" tIns="0" rIns="0" bIns="0" rtlCol="0" anchor="ctr"/>
          <a:lstStyle/>
          <a:p>
            <a:pPr marL="0" indent="0">
              <a:buNone/>
            </a:pPr>
            <a:r>
              <a:rPr lang="en-US" sz="1200" dirty="0">
                <a:solidFill>
                  <a:srgbClr val="6B6B70"/>
                </a:solidFill>
                <a:latin typeface="Arial" pitchFamily="34" charset="0"/>
                <a:ea typeface="Arial" pitchFamily="34" charset="-122"/>
                <a:cs typeface="Arial" pitchFamily="34" charset="-120"/>
              </a:rPr>
              <a:t>Freelance Data Analytics Team  ·  Graduation Project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WHO WE ARE</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Our Team</a:t>
            </a:r>
            <a:endParaRPr lang="en-US" sz="3000" dirty="0"/>
          </a:p>
        </p:txBody>
      </p:sp>
      <p:sp>
        <p:nvSpPr>
          <p:cNvPr id="4" name="Shape 2"/>
          <p:cNvSpPr/>
          <p:nvPr/>
        </p:nvSpPr>
        <p:spPr>
          <a:xfrm>
            <a:off x="594360" y="2103120"/>
            <a:ext cx="2514600" cy="2926080"/>
          </a:xfrm>
          <a:prstGeom prst="roundRect">
            <a:avLst>
              <a:gd name="adj" fmla="val 2909"/>
            </a:avLst>
          </a:prstGeom>
          <a:solidFill>
            <a:srgbClr val="F3F8FF"/>
          </a:solidFill>
          <a:ln/>
          <a:effectLst>
            <a:outerShdw blurRad="127000" dist="38100" dir="5400000" algn="bl" rotWithShape="0">
              <a:srgbClr val="0B5FCC">
                <a:alpha val="10000"/>
              </a:srgbClr>
            </a:outerShdw>
          </a:effectLst>
        </p:spPr>
        <p:txBody>
          <a:bodyPr/>
          <a:lstStyle/>
          <a:p>
            <a:endParaRPr lang="en-US"/>
          </a:p>
        </p:txBody>
      </p:sp>
      <p:sp>
        <p:nvSpPr>
          <p:cNvPr id="5" name="Shape 3"/>
          <p:cNvSpPr/>
          <p:nvPr/>
        </p:nvSpPr>
        <p:spPr>
          <a:xfrm>
            <a:off x="1394460" y="2514600"/>
            <a:ext cx="914400" cy="914400"/>
          </a:xfrm>
          <a:prstGeom prst="ellipse">
            <a:avLst/>
          </a:prstGeom>
          <a:solidFill>
            <a:srgbClr val="FFFFFF"/>
          </a:solidFill>
          <a:ln w="22225">
            <a:solidFill>
              <a:srgbClr val="108EF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604772" y="2724912"/>
            <a:ext cx="493776" cy="493776"/>
          </a:xfrm>
          <a:prstGeom prst="rect">
            <a:avLst/>
          </a:prstGeom>
        </p:spPr>
      </p:pic>
      <p:sp>
        <p:nvSpPr>
          <p:cNvPr id="7" name="Text 4"/>
          <p:cNvSpPr/>
          <p:nvPr/>
        </p:nvSpPr>
        <p:spPr>
          <a:xfrm>
            <a:off x="731520" y="3703320"/>
            <a:ext cx="2240280" cy="914400"/>
          </a:xfrm>
          <a:prstGeom prst="rect">
            <a:avLst/>
          </a:prstGeom>
          <a:noFill/>
          <a:ln/>
        </p:spPr>
        <p:txBody>
          <a:bodyPr wrap="square" lIns="0" tIns="0" rIns="0" bIns="0" rtlCol="0" anchor="t"/>
          <a:lstStyle/>
          <a:p>
            <a:pPr marL="0" indent="0" algn="ctr">
              <a:lnSpc>
                <a:spcPct val="115000"/>
              </a:lnSpc>
              <a:buNone/>
            </a:pPr>
            <a:r>
              <a:rPr lang="en-US" sz="1500" b="1" dirty="0">
                <a:solidFill>
                  <a:srgbClr val="0B0B0F"/>
                </a:solidFill>
                <a:latin typeface="Arial" pitchFamily="34" charset="0"/>
                <a:ea typeface="Arial" pitchFamily="34" charset="-122"/>
                <a:cs typeface="Arial" pitchFamily="34" charset="-120"/>
              </a:rPr>
              <a:t>Youssef Mohamed Fatohy</a:t>
            </a:r>
            <a:endParaRPr lang="en-US" sz="1500" dirty="0"/>
          </a:p>
        </p:txBody>
      </p:sp>
      <p:sp>
        <p:nvSpPr>
          <p:cNvPr id="8" name="Shape 5"/>
          <p:cNvSpPr/>
          <p:nvPr/>
        </p:nvSpPr>
        <p:spPr>
          <a:xfrm>
            <a:off x="3401568" y="2103120"/>
            <a:ext cx="2514600" cy="2926080"/>
          </a:xfrm>
          <a:prstGeom prst="roundRect">
            <a:avLst>
              <a:gd name="adj" fmla="val 2909"/>
            </a:avLst>
          </a:prstGeom>
          <a:solidFill>
            <a:srgbClr val="F3F8FF"/>
          </a:solidFill>
          <a:ln/>
          <a:effectLst>
            <a:outerShdw blurRad="127000" dist="38100" dir="5400000" algn="bl" rotWithShape="0">
              <a:srgbClr val="0B5FCC">
                <a:alpha val="10000"/>
              </a:srgbClr>
            </a:outerShdw>
          </a:effectLst>
        </p:spPr>
        <p:txBody>
          <a:bodyPr/>
          <a:lstStyle/>
          <a:p>
            <a:endParaRPr lang="en-US"/>
          </a:p>
        </p:txBody>
      </p:sp>
      <p:sp>
        <p:nvSpPr>
          <p:cNvPr id="9" name="Shape 6"/>
          <p:cNvSpPr/>
          <p:nvPr/>
        </p:nvSpPr>
        <p:spPr>
          <a:xfrm>
            <a:off x="4201668" y="2514600"/>
            <a:ext cx="914400" cy="914400"/>
          </a:xfrm>
          <a:prstGeom prst="ellipse">
            <a:avLst/>
          </a:prstGeom>
          <a:solidFill>
            <a:srgbClr val="FFFFFF"/>
          </a:solidFill>
          <a:ln w="22225">
            <a:solidFill>
              <a:srgbClr val="108EFF"/>
            </a:solidFill>
            <a:prstDash val="solid"/>
          </a:ln>
        </p:spPr>
        <p:txBody>
          <a:bodyPr/>
          <a:lstStyle/>
          <a:p>
            <a:endParaRPr lang="en-US"/>
          </a:p>
        </p:txBody>
      </p:sp>
      <p:pic>
        <p:nvPicPr>
          <p:cNvPr id="10" name="Image 1" descr="preencoded.png"/>
          <p:cNvPicPr>
            <a:picLocks noChangeAspect="1"/>
          </p:cNvPicPr>
          <p:nvPr/>
        </p:nvPicPr>
        <p:blipFill>
          <a:blip r:embed="rId3"/>
          <a:stretch>
            <a:fillRect/>
          </a:stretch>
        </p:blipFill>
        <p:spPr>
          <a:xfrm>
            <a:off x="4411980" y="2724912"/>
            <a:ext cx="493776" cy="493776"/>
          </a:xfrm>
          <a:prstGeom prst="rect">
            <a:avLst/>
          </a:prstGeom>
        </p:spPr>
      </p:pic>
      <p:sp>
        <p:nvSpPr>
          <p:cNvPr id="11" name="Text 7"/>
          <p:cNvSpPr/>
          <p:nvPr/>
        </p:nvSpPr>
        <p:spPr>
          <a:xfrm>
            <a:off x="3538728" y="3703320"/>
            <a:ext cx="2240280" cy="914400"/>
          </a:xfrm>
          <a:prstGeom prst="rect">
            <a:avLst/>
          </a:prstGeom>
          <a:noFill/>
          <a:ln/>
        </p:spPr>
        <p:txBody>
          <a:bodyPr wrap="square" lIns="0" tIns="0" rIns="0" bIns="0" rtlCol="0" anchor="t"/>
          <a:lstStyle/>
          <a:p>
            <a:pPr marL="0" indent="0" algn="ctr">
              <a:lnSpc>
                <a:spcPct val="115000"/>
              </a:lnSpc>
              <a:buNone/>
            </a:pPr>
            <a:r>
              <a:rPr lang="en-US" sz="1500" b="1" dirty="0">
                <a:solidFill>
                  <a:srgbClr val="0B0B0F"/>
                </a:solidFill>
                <a:latin typeface="Arial" pitchFamily="34" charset="0"/>
                <a:ea typeface="Arial" pitchFamily="34" charset="-122"/>
                <a:cs typeface="Arial" pitchFamily="34" charset="-120"/>
              </a:rPr>
              <a:t>David Usama Maher</a:t>
            </a:r>
            <a:endParaRPr lang="en-US" sz="1500" dirty="0"/>
          </a:p>
        </p:txBody>
      </p:sp>
      <p:sp>
        <p:nvSpPr>
          <p:cNvPr id="12" name="Shape 8"/>
          <p:cNvSpPr/>
          <p:nvPr/>
        </p:nvSpPr>
        <p:spPr>
          <a:xfrm>
            <a:off x="6208776" y="2103120"/>
            <a:ext cx="2514600" cy="2926080"/>
          </a:xfrm>
          <a:prstGeom prst="roundRect">
            <a:avLst>
              <a:gd name="adj" fmla="val 2909"/>
            </a:avLst>
          </a:prstGeom>
          <a:solidFill>
            <a:srgbClr val="F3F8FF"/>
          </a:solidFill>
          <a:ln/>
          <a:effectLst>
            <a:outerShdw blurRad="127000" dist="38100" dir="5400000" algn="bl" rotWithShape="0">
              <a:srgbClr val="0B5FCC">
                <a:alpha val="10000"/>
              </a:srgbClr>
            </a:outerShdw>
          </a:effectLst>
        </p:spPr>
        <p:txBody>
          <a:bodyPr/>
          <a:lstStyle/>
          <a:p>
            <a:endParaRPr lang="en-US"/>
          </a:p>
        </p:txBody>
      </p:sp>
      <p:sp>
        <p:nvSpPr>
          <p:cNvPr id="13" name="Shape 9"/>
          <p:cNvSpPr/>
          <p:nvPr/>
        </p:nvSpPr>
        <p:spPr>
          <a:xfrm>
            <a:off x="7008876" y="2514600"/>
            <a:ext cx="914400" cy="914400"/>
          </a:xfrm>
          <a:prstGeom prst="ellipse">
            <a:avLst/>
          </a:prstGeom>
          <a:solidFill>
            <a:srgbClr val="FFFFFF"/>
          </a:solidFill>
          <a:ln w="22225">
            <a:solidFill>
              <a:srgbClr val="108EFF"/>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7219188" y="2724912"/>
            <a:ext cx="493776" cy="493776"/>
          </a:xfrm>
          <a:prstGeom prst="rect">
            <a:avLst/>
          </a:prstGeom>
        </p:spPr>
      </p:pic>
      <p:sp>
        <p:nvSpPr>
          <p:cNvPr id="15" name="Text 10"/>
          <p:cNvSpPr/>
          <p:nvPr/>
        </p:nvSpPr>
        <p:spPr>
          <a:xfrm>
            <a:off x="6345936" y="3703320"/>
            <a:ext cx="2240280" cy="914400"/>
          </a:xfrm>
          <a:prstGeom prst="rect">
            <a:avLst/>
          </a:prstGeom>
          <a:noFill/>
          <a:ln/>
        </p:spPr>
        <p:txBody>
          <a:bodyPr wrap="square" lIns="0" tIns="0" rIns="0" bIns="0" rtlCol="0" anchor="t"/>
          <a:lstStyle/>
          <a:p>
            <a:pPr marL="0" indent="0" algn="ctr">
              <a:lnSpc>
                <a:spcPct val="115000"/>
              </a:lnSpc>
              <a:buNone/>
            </a:pPr>
            <a:r>
              <a:rPr lang="en-US" sz="1500" b="1" dirty="0">
                <a:solidFill>
                  <a:srgbClr val="0B0B0F"/>
                </a:solidFill>
                <a:latin typeface="Arial" pitchFamily="34" charset="0"/>
                <a:ea typeface="Arial" pitchFamily="34" charset="-122"/>
                <a:cs typeface="Arial" pitchFamily="34" charset="-120"/>
              </a:rPr>
              <a:t>Rana Essam Reda</a:t>
            </a:r>
            <a:endParaRPr lang="en-US" sz="1500" dirty="0"/>
          </a:p>
        </p:txBody>
      </p:sp>
      <p:sp>
        <p:nvSpPr>
          <p:cNvPr id="16" name="Shape 11"/>
          <p:cNvSpPr/>
          <p:nvPr/>
        </p:nvSpPr>
        <p:spPr>
          <a:xfrm>
            <a:off x="9015984" y="2103120"/>
            <a:ext cx="2514600" cy="2926080"/>
          </a:xfrm>
          <a:prstGeom prst="roundRect">
            <a:avLst>
              <a:gd name="adj" fmla="val 2909"/>
            </a:avLst>
          </a:prstGeom>
          <a:solidFill>
            <a:srgbClr val="F3F8FF"/>
          </a:solidFill>
          <a:ln/>
          <a:effectLst>
            <a:outerShdw blurRad="127000" dist="38100" dir="5400000" algn="bl" rotWithShape="0">
              <a:srgbClr val="0B5FCC">
                <a:alpha val="10000"/>
              </a:srgbClr>
            </a:outerShdw>
          </a:effectLst>
        </p:spPr>
        <p:txBody>
          <a:bodyPr/>
          <a:lstStyle/>
          <a:p>
            <a:endParaRPr lang="en-US"/>
          </a:p>
        </p:txBody>
      </p:sp>
      <p:sp>
        <p:nvSpPr>
          <p:cNvPr id="17" name="Shape 12"/>
          <p:cNvSpPr/>
          <p:nvPr/>
        </p:nvSpPr>
        <p:spPr>
          <a:xfrm>
            <a:off x="9816084" y="2514600"/>
            <a:ext cx="914400" cy="914400"/>
          </a:xfrm>
          <a:prstGeom prst="ellipse">
            <a:avLst/>
          </a:prstGeom>
          <a:solidFill>
            <a:srgbClr val="FFFFFF"/>
          </a:solidFill>
          <a:ln w="22225">
            <a:solidFill>
              <a:srgbClr val="108EFF"/>
            </a:solidFill>
            <a:prstDash val="solid"/>
          </a:ln>
        </p:spPr>
        <p:txBody>
          <a:bodyPr/>
          <a:lstStyle/>
          <a:p>
            <a:endParaRPr lang="en-US"/>
          </a:p>
        </p:txBody>
      </p:sp>
      <p:pic>
        <p:nvPicPr>
          <p:cNvPr id="18" name="Image 3" descr="preencoded.png"/>
          <p:cNvPicPr>
            <a:picLocks noChangeAspect="1"/>
          </p:cNvPicPr>
          <p:nvPr/>
        </p:nvPicPr>
        <p:blipFill>
          <a:blip r:embed="rId3"/>
          <a:stretch>
            <a:fillRect/>
          </a:stretch>
        </p:blipFill>
        <p:spPr>
          <a:xfrm>
            <a:off x="10026396" y="2724912"/>
            <a:ext cx="493776" cy="493776"/>
          </a:xfrm>
          <a:prstGeom prst="rect">
            <a:avLst/>
          </a:prstGeom>
        </p:spPr>
      </p:pic>
      <p:sp>
        <p:nvSpPr>
          <p:cNvPr id="19" name="Text 13"/>
          <p:cNvSpPr/>
          <p:nvPr/>
        </p:nvSpPr>
        <p:spPr>
          <a:xfrm>
            <a:off x="9153144" y="3703320"/>
            <a:ext cx="2240280" cy="914400"/>
          </a:xfrm>
          <a:prstGeom prst="rect">
            <a:avLst/>
          </a:prstGeom>
          <a:noFill/>
          <a:ln/>
        </p:spPr>
        <p:txBody>
          <a:bodyPr wrap="square" lIns="0" tIns="0" rIns="0" bIns="0" rtlCol="0" anchor="t"/>
          <a:lstStyle/>
          <a:p>
            <a:pPr marL="0" indent="0" algn="ctr">
              <a:lnSpc>
                <a:spcPct val="115000"/>
              </a:lnSpc>
              <a:buNone/>
            </a:pPr>
            <a:r>
              <a:rPr lang="en-US" sz="1500" b="1" dirty="0">
                <a:solidFill>
                  <a:srgbClr val="0B0B0F"/>
                </a:solidFill>
                <a:latin typeface="Arial" pitchFamily="34" charset="0"/>
                <a:ea typeface="Arial" pitchFamily="34" charset="-122"/>
                <a:cs typeface="Arial" pitchFamily="34" charset="-120"/>
              </a:rPr>
              <a:t>Gehan Hazem Kamal</a:t>
            </a:r>
            <a:endParaRPr lang="en-US" sz="1500" dirty="0"/>
          </a:p>
        </p:txBody>
      </p:sp>
      <p:sp>
        <p:nvSpPr>
          <p:cNvPr id="20" name="Text 14"/>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THE BRIEF</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Project Overview</a:t>
            </a:r>
            <a:endParaRPr lang="en-US" sz="3000" dirty="0"/>
          </a:p>
        </p:txBody>
      </p:sp>
      <p:sp>
        <p:nvSpPr>
          <p:cNvPr id="4" name="Text 2"/>
          <p:cNvSpPr/>
          <p:nvPr/>
        </p:nvSpPr>
        <p:spPr>
          <a:xfrm>
            <a:off x="548640" y="1828800"/>
            <a:ext cx="6035040" cy="3291840"/>
          </a:xfrm>
          <a:prstGeom prst="rect">
            <a:avLst/>
          </a:prstGeom>
          <a:noFill/>
          <a:ln/>
        </p:spPr>
        <p:txBody>
          <a:bodyPr wrap="square" lIns="0" tIns="0" rIns="0" bIns="0" rtlCol="0" anchor="ctr"/>
          <a:lstStyle/>
          <a:p>
            <a:pPr marL="0" indent="0">
              <a:lnSpc>
                <a:spcPct val="125000"/>
              </a:lnSpc>
              <a:buNone/>
            </a:pPr>
            <a:r>
              <a:rPr lang="en-US" sz="1600" dirty="0">
                <a:solidFill>
                  <a:srgbClr val="6B6B70"/>
                </a:solidFill>
                <a:latin typeface="Arial" pitchFamily="34" charset="0"/>
                <a:ea typeface="Arial" pitchFamily="34" charset="-122"/>
                <a:cs typeface="Arial" pitchFamily="34" charset="-120"/>
              </a:rPr>
              <a:t>Our client — a mid-size US retail chain — had years of sales data locked away in spreadsheets, but </a:t>
            </a:r>
            <a:endParaRPr lang="en-US" sz="1600" dirty="0"/>
          </a:p>
          <a:p>
            <a:pPr marL="0" indent="0">
              <a:lnSpc>
                <a:spcPct val="125000"/>
              </a:lnSpc>
              <a:buNone/>
            </a:pPr>
            <a:r>
              <a:rPr lang="en-US" sz="1600" b="1" dirty="0">
                <a:solidFill>
                  <a:srgbClr val="0B0B0F"/>
                </a:solidFill>
                <a:latin typeface="Arial" pitchFamily="34" charset="0"/>
                <a:ea typeface="Arial" pitchFamily="34" charset="-122"/>
                <a:cs typeface="Arial" pitchFamily="34" charset="-120"/>
              </a:rPr>
              <a:t>no clear view of what sells, where, and when demand shifts.</a:t>
            </a:r>
            <a:endParaRPr lang="en-US" sz="1600" dirty="0"/>
          </a:p>
          <a:p>
            <a:pPr marL="0" indent="0">
              <a:lnSpc>
                <a:spcPct val="125000"/>
              </a:lnSpc>
              <a:buNone/>
            </a:pPr>
            <a:r>
              <a:rPr lang="en-US" sz="1600" dirty="0">
                <a:solidFill>
                  <a:srgbClr val="6B6B70"/>
                </a:solidFill>
                <a:latin typeface="Arial" pitchFamily="34" charset="0"/>
                <a:ea typeface="Arial" pitchFamily="34" charset="-122"/>
                <a:cs typeface="Arial" pitchFamily="34" charset="-120"/>
              </a:rPr>
              <a:t> </a:t>
            </a:r>
            <a:endParaRPr lang="en-US" sz="1600" dirty="0"/>
          </a:p>
          <a:p>
            <a:pPr marL="0" indent="0">
              <a:lnSpc>
                <a:spcPct val="125000"/>
              </a:lnSpc>
              <a:buNone/>
            </a:pPr>
            <a:r>
              <a:rPr lang="en-US" sz="1600" dirty="0">
                <a:solidFill>
                  <a:srgbClr val="6B6B70"/>
                </a:solidFill>
                <a:latin typeface="Arial" pitchFamily="34" charset="0"/>
                <a:ea typeface="Arial" pitchFamily="34" charset="-122"/>
                <a:cs typeface="Arial" pitchFamily="34" charset="-120"/>
              </a:rPr>
              <a:t>As their freelance analytics team, we were brought in to turn raw transactional records into a decision-ready story: clean the data, uncover the patterns, and deliver an interactive dashboard leadership could actually act on.</a:t>
            </a:r>
            <a:endParaRPr lang="en-US" sz="1600" dirty="0"/>
          </a:p>
        </p:txBody>
      </p:sp>
      <p:sp>
        <p:nvSpPr>
          <p:cNvPr id="5" name="Shape 3"/>
          <p:cNvSpPr/>
          <p:nvPr/>
        </p:nvSpPr>
        <p:spPr>
          <a:xfrm>
            <a:off x="7040880" y="1874520"/>
            <a:ext cx="4572000" cy="914400"/>
          </a:xfrm>
          <a:prstGeom prst="roundRect">
            <a:avLst>
              <a:gd name="adj" fmla="val 8000"/>
            </a:avLst>
          </a:prstGeom>
          <a:solidFill>
            <a:srgbClr val="F3F8FF"/>
          </a:solidFill>
          <a:ln/>
          <a:effectLst>
            <a:outerShdw blurRad="76200" dist="25400" dir="5400000" algn="bl" rotWithShape="0">
              <a:srgbClr val="0B5FCC">
                <a:alpha val="8000"/>
              </a:srgbClr>
            </a:outerShdw>
          </a:effectLst>
        </p:spPr>
        <p:txBody>
          <a:bodyPr/>
          <a:lstStyle/>
          <a:p>
            <a:endParaRPr lang="en-US"/>
          </a:p>
        </p:txBody>
      </p:sp>
      <p:sp>
        <p:nvSpPr>
          <p:cNvPr id="6" name="Shape 4"/>
          <p:cNvSpPr/>
          <p:nvPr/>
        </p:nvSpPr>
        <p:spPr>
          <a:xfrm>
            <a:off x="7269480" y="2057400"/>
            <a:ext cx="548640" cy="548640"/>
          </a:xfrm>
          <a:prstGeom prst="ellipse">
            <a:avLst/>
          </a:prstGeom>
          <a:solidFill>
            <a:srgbClr val="FFFFFF"/>
          </a:solidFill>
          <a:ln w="19050">
            <a:solidFill>
              <a:srgbClr val="108EF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406640" y="2194560"/>
            <a:ext cx="274320" cy="274320"/>
          </a:xfrm>
          <a:prstGeom prst="rect">
            <a:avLst/>
          </a:prstGeom>
        </p:spPr>
      </p:pic>
      <p:sp>
        <p:nvSpPr>
          <p:cNvPr id="8" name="Text 5"/>
          <p:cNvSpPr/>
          <p:nvPr/>
        </p:nvSpPr>
        <p:spPr>
          <a:xfrm>
            <a:off x="8001000" y="1984248"/>
            <a:ext cx="3474720" cy="365760"/>
          </a:xfrm>
          <a:prstGeom prst="rect">
            <a:avLst/>
          </a:prstGeom>
          <a:noFill/>
          <a:ln/>
        </p:spPr>
        <p:txBody>
          <a:bodyPr wrap="square" lIns="0" tIns="0" rIns="0" bIns="0" rtlCol="0" anchor="ctr"/>
          <a:lstStyle/>
          <a:p>
            <a:pPr marL="0" indent="0">
              <a:buNone/>
            </a:pPr>
            <a:r>
              <a:rPr lang="en-US" sz="1500" b="1" dirty="0">
                <a:solidFill>
                  <a:srgbClr val="0B0B0F"/>
                </a:solidFill>
                <a:latin typeface="Arial" pitchFamily="34" charset="0"/>
                <a:ea typeface="Arial" pitchFamily="34" charset="-122"/>
                <a:cs typeface="Arial" pitchFamily="34" charset="-120"/>
              </a:rPr>
              <a:t>Clean</a:t>
            </a:r>
            <a:endParaRPr lang="en-US" sz="1500" dirty="0"/>
          </a:p>
        </p:txBody>
      </p:sp>
      <p:sp>
        <p:nvSpPr>
          <p:cNvPr id="9" name="Text 6"/>
          <p:cNvSpPr/>
          <p:nvPr/>
        </p:nvSpPr>
        <p:spPr>
          <a:xfrm>
            <a:off x="8001000" y="2331720"/>
            <a:ext cx="3474720" cy="411480"/>
          </a:xfrm>
          <a:prstGeom prst="rect">
            <a:avLst/>
          </a:prstGeom>
          <a:noFill/>
          <a:ln/>
        </p:spPr>
        <p:txBody>
          <a:bodyPr wrap="square" lIns="0" tIns="0" rIns="0" bIns="0" rtlCol="0" anchor="ctr"/>
          <a:lstStyle/>
          <a:p>
            <a:pPr marL="0" indent="0">
              <a:buNone/>
            </a:pPr>
            <a:r>
              <a:rPr lang="en-US" sz="1100" dirty="0">
                <a:solidFill>
                  <a:srgbClr val="6B6B70"/>
                </a:solidFill>
                <a:latin typeface="Arial" pitchFamily="34" charset="0"/>
                <a:ea typeface="Arial" pitchFamily="34" charset="-122"/>
                <a:cs typeface="Arial" pitchFamily="34" charset="-120"/>
              </a:rPr>
              <a:t>Fix, standardize &amp; validate the raw dataset</a:t>
            </a:r>
            <a:endParaRPr lang="en-US" sz="1100" dirty="0"/>
          </a:p>
        </p:txBody>
      </p:sp>
      <p:pic>
        <p:nvPicPr>
          <p:cNvPr id="10" name="Image 1" descr="preencoded.png"/>
          <p:cNvPicPr>
            <a:picLocks noChangeAspect="1"/>
          </p:cNvPicPr>
          <p:nvPr/>
        </p:nvPicPr>
        <p:blipFill>
          <a:blip r:embed="rId4"/>
          <a:stretch>
            <a:fillRect/>
          </a:stretch>
        </p:blipFill>
        <p:spPr>
          <a:xfrm rot="5400000">
            <a:off x="9217152" y="2788920"/>
            <a:ext cx="219456" cy="219456"/>
          </a:xfrm>
          <a:prstGeom prst="rect">
            <a:avLst/>
          </a:prstGeom>
        </p:spPr>
      </p:pic>
      <p:sp>
        <p:nvSpPr>
          <p:cNvPr id="11" name="Shape 7"/>
          <p:cNvSpPr/>
          <p:nvPr/>
        </p:nvSpPr>
        <p:spPr>
          <a:xfrm>
            <a:off x="7040880" y="3017520"/>
            <a:ext cx="4572000" cy="914400"/>
          </a:xfrm>
          <a:prstGeom prst="roundRect">
            <a:avLst>
              <a:gd name="adj" fmla="val 8000"/>
            </a:avLst>
          </a:prstGeom>
          <a:solidFill>
            <a:srgbClr val="F3F8FF"/>
          </a:solidFill>
          <a:ln/>
          <a:effectLst>
            <a:outerShdw blurRad="76200" dist="25400" dir="5400000" algn="bl" rotWithShape="0">
              <a:srgbClr val="0B5FCC">
                <a:alpha val="8000"/>
              </a:srgbClr>
            </a:outerShdw>
          </a:effectLst>
        </p:spPr>
        <p:txBody>
          <a:bodyPr/>
          <a:lstStyle/>
          <a:p>
            <a:endParaRPr lang="en-US"/>
          </a:p>
        </p:txBody>
      </p:sp>
      <p:sp>
        <p:nvSpPr>
          <p:cNvPr id="12" name="Shape 8"/>
          <p:cNvSpPr/>
          <p:nvPr/>
        </p:nvSpPr>
        <p:spPr>
          <a:xfrm>
            <a:off x="7269480" y="3200400"/>
            <a:ext cx="548640" cy="548640"/>
          </a:xfrm>
          <a:prstGeom prst="ellipse">
            <a:avLst/>
          </a:prstGeom>
          <a:solidFill>
            <a:srgbClr val="FFFFFF"/>
          </a:solidFill>
          <a:ln w="19050">
            <a:solidFill>
              <a:srgbClr val="108EFF"/>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406640" y="3337560"/>
            <a:ext cx="274320" cy="274320"/>
          </a:xfrm>
          <a:prstGeom prst="rect">
            <a:avLst/>
          </a:prstGeom>
        </p:spPr>
      </p:pic>
      <p:sp>
        <p:nvSpPr>
          <p:cNvPr id="14" name="Text 9"/>
          <p:cNvSpPr/>
          <p:nvPr/>
        </p:nvSpPr>
        <p:spPr>
          <a:xfrm>
            <a:off x="8001000" y="3127248"/>
            <a:ext cx="3474720" cy="365760"/>
          </a:xfrm>
          <a:prstGeom prst="rect">
            <a:avLst/>
          </a:prstGeom>
          <a:noFill/>
          <a:ln/>
        </p:spPr>
        <p:txBody>
          <a:bodyPr wrap="square" lIns="0" tIns="0" rIns="0" bIns="0" rtlCol="0" anchor="ctr"/>
          <a:lstStyle/>
          <a:p>
            <a:pPr marL="0" indent="0">
              <a:buNone/>
            </a:pPr>
            <a:r>
              <a:rPr lang="en-US" sz="1500" b="1" dirty="0">
                <a:solidFill>
                  <a:srgbClr val="0B0B0F"/>
                </a:solidFill>
                <a:latin typeface="Arial" pitchFamily="34" charset="0"/>
                <a:ea typeface="Arial" pitchFamily="34" charset="-122"/>
                <a:cs typeface="Arial" pitchFamily="34" charset="-120"/>
              </a:rPr>
              <a:t>Query</a:t>
            </a:r>
            <a:endParaRPr lang="en-US" sz="1500" dirty="0"/>
          </a:p>
        </p:txBody>
      </p:sp>
      <p:sp>
        <p:nvSpPr>
          <p:cNvPr id="15" name="Text 10"/>
          <p:cNvSpPr/>
          <p:nvPr/>
        </p:nvSpPr>
        <p:spPr>
          <a:xfrm>
            <a:off x="8001000" y="3474720"/>
            <a:ext cx="3474720" cy="411480"/>
          </a:xfrm>
          <a:prstGeom prst="rect">
            <a:avLst/>
          </a:prstGeom>
          <a:noFill/>
          <a:ln/>
        </p:spPr>
        <p:txBody>
          <a:bodyPr wrap="square" lIns="0" tIns="0" rIns="0" bIns="0" rtlCol="0" anchor="ctr"/>
          <a:lstStyle/>
          <a:p>
            <a:pPr marL="0" indent="0">
              <a:buNone/>
            </a:pPr>
            <a:r>
              <a:rPr lang="en-US" sz="1100" dirty="0">
                <a:solidFill>
                  <a:srgbClr val="6B6B70"/>
                </a:solidFill>
                <a:latin typeface="Arial" pitchFamily="34" charset="0"/>
                <a:ea typeface="Arial" pitchFamily="34" charset="-122"/>
                <a:cs typeface="Arial" pitchFamily="34" charset="-120"/>
              </a:rPr>
              <a:t>SQL analysis for trends &amp; KPIs</a:t>
            </a:r>
            <a:endParaRPr lang="en-US" sz="1100" dirty="0"/>
          </a:p>
        </p:txBody>
      </p:sp>
      <p:pic>
        <p:nvPicPr>
          <p:cNvPr id="16" name="Image 3" descr="preencoded.png"/>
          <p:cNvPicPr>
            <a:picLocks noChangeAspect="1"/>
          </p:cNvPicPr>
          <p:nvPr/>
        </p:nvPicPr>
        <p:blipFill>
          <a:blip r:embed="rId4"/>
          <a:stretch>
            <a:fillRect/>
          </a:stretch>
        </p:blipFill>
        <p:spPr>
          <a:xfrm rot="5400000">
            <a:off x="9217152" y="3931920"/>
            <a:ext cx="219456" cy="219456"/>
          </a:xfrm>
          <a:prstGeom prst="rect">
            <a:avLst/>
          </a:prstGeom>
        </p:spPr>
      </p:pic>
      <p:sp>
        <p:nvSpPr>
          <p:cNvPr id="17" name="Shape 11"/>
          <p:cNvSpPr/>
          <p:nvPr/>
        </p:nvSpPr>
        <p:spPr>
          <a:xfrm>
            <a:off x="7040880" y="4160520"/>
            <a:ext cx="4572000" cy="914400"/>
          </a:xfrm>
          <a:prstGeom prst="roundRect">
            <a:avLst>
              <a:gd name="adj" fmla="val 8000"/>
            </a:avLst>
          </a:prstGeom>
          <a:solidFill>
            <a:srgbClr val="F3F8FF"/>
          </a:solidFill>
          <a:ln/>
          <a:effectLst>
            <a:outerShdw blurRad="76200" dist="25400" dir="5400000" algn="bl" rotWithShape="0">
              <a:srgbClr val="0B5FCC">
                <a:alpha val="8000"/>
              </a:srgbClr>
            </a:outerShdw>
          </a:effectLst>
        </p:spPr>
        <p:txBody>
          <a:bodyPr/>
          <a:lstStyle/>
          <a:p>
            <a:endParaRPr lang="en-US"/>
          </a:p>
        </p:txBody>
      </p:sp>
      <p:sp>
        <p:nvSpPr>
          <p:cNvPr id="18" name="Shape 12"/>
          <p:cNvSpPr/>
          <p:nvPr/>
        </p:nvSpPr>
        <p:spPr>
          <a:xfrm>
            <a:off x="7269480" y="4343400"/>
            <a:ext cx="548640" cy="548640"/>
          </a:xfrm>
          <a:prstGeom prst="ellipse">
            <a:avLst/>
          </a:prstGeom>
          <a:solidFill>
            <a:srgbClr val="FFFFFF"/>
          </a:solidFill>
          <a:ln w="19050">
            <a:solidFill>
              <a:srgbClr val="108EFF"/>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7406640" y="4480560"/>
            <a:ext cx="274320" cy="274320"/>
          </a:xfrm>
          <a:prstGeom prst="rect">
            <a:avLst/>
          </a:prstGeom>
        </p:spPr>
      </p:pic>
      <p:sp>
        <p:nvSpPr>
          <p:cNvPr id="20" name="Text 13"/>
          <p:cNvSpPr/>
          <p:nvPr/>
        </p:nvSpPr>
        <p:spPr>
          <a:xfrm>
            <a:off x="8001000" y="4270248"/>
            <a:ext cx="3474720" cy="365760"/>
          </a:xfrm>
          <a:prstGeom prst="rect">
            <a:avLst/>
          </a:prstGeom>
          <a:noFill/>
          <a:ln/>
        </p:spPr>
        <p:txBody>
          <a:bodyPr wrap="square" lIns="0" tIns="0" rIns="0" bIns="0" rtlCol="0" anchor="ctr"/>
          <a:lstStyle/>
          <a:p>
            <a:pPr marL="0" indent="0">
              <a:buNone/>
            </a:pPr>
            <a:r>
              <a:rPr lang="en-US" sz="1500" b="1" dirty="0">
                <a:solidFill>
                  <a:srgbClr val="0B0B0F"/>
                </a:solidFill>
                <a:latin typeface="Arial" pitchFamily="34" charset="0"/>
                <a:ea typeface="Arial" pitchFamily="34" charset="-122"/>
                <a:cs typeface="Arial" pitchFamily="34" charset="-120"/>
              </a:rPr>
              <a:t>Visualize</a:t>
            </a:r>
            <a:endParaRPr lang="en-US" sz="1500" dirty="0"/>
          </a:p>
        </p:txBody>
      </p:sp>
      <p:sp>
        <p:nvSpPr>
          <p:cNvPr id="21" name="Text 14"/>
          <p:cNvSpPr/>
          <p:nvPr/>
        </p:nvSpPr>
        <p:spPr>
          <a:xfrm>
            <a:off x="8001000" y="4617720"/>
            <a:ext cx="3474720" cy="411480"/>
          </a:xfrm>
          <a:prstGeom prst="rect">
            <a:avLst/>
          </a:prstGeom>
          <a:noFill/>
          <a:ln/>
        </p:spPr>
        <p:txBody>
          <a:bodyPr wrap="square" lIns="0" tIns="0" rIns="0" bIns="0" rtlCol="0" anchor="ctr"/>
          <a:lstStyle/>
          <a:p>
            <a:pPr marL="0" indent="0">
              <a:buNone/>
            </a:pPr>
            <a:r>
              <a:rPr lang="en-US" sz="1100" dirty="0">
                <a:solidFill>
                  <a:srgbClr val="6B6B70"/>
                </a:solidFill>
                <a:latin typeface="Arial" pitchFamily="34" charset="0"/>
                <a:ea typeface="Arial" pitchFamily="34" charset="-122"/>
                <a:cs typeface="Arial" pitchFamily="34" charset="-120"/>
              </a:rPr>
              <a:t>Interactive Power BI dashboard</a:t>
            </a:r>
            <a:endParaRPr lang="en-US" sz="1100" dirty="0"/>
          </a:p>
        </p:txBody>
      </p:sp>
      <p:sp>
        <p:nvSpPr>
          <p:cNvPr id="22" name="Text 15"/>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THE DATASET</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Data Description</a:t>
            </a:r>
            <a:endParaRPr lang="en-US" sz="3000" dirty="0"/>
          </a:p>
        </p:txBody>
      </p:sp>
      <p:sp>
        <p:nvSpPr>
          <p:cNvPr id="4" name="Text 2"/>
          <p:cNvSpPr/>
          <p:nvPr/>
        </p:nvSpPr>
        <p:spPr>
          <a:xfrm>
            <a:off x="548640" y="1508760"/>
            <a:ext cx="10789920" cy="457200"/>
          </a:xfrm>
          <a:prstGeom prst="rect">
            <a:avLst/>
          </a:prstGeom>
          <a:noFill/>
          <a:ln/>
        </p:spPr>
        <p:txBody>
          <a:bodyPr wrap="square" lIns="0" tIns="0" rIns="0" bIns="0" rtlCol="0" anchor="ctr"/>
          <a:lstStyle/>
          <a:p>
            <a:pPr marL="0" indent="0">
              <a:buNone/>
            </a:pPr>
            <a:r>
              <a:rPr lang="en-US" sz="1500" dirty="0">
                <a:solidFill>
                  <a:srgbClr val="6B6B70"/>
                </a:solidFill>
                <a:latin typeface="Arial" pitchFamily="34" charset="0"/>
                <a:ea typeface="Arial" pitchFamily="34" charset="-122"/>
                <a:cs typeface="Arial" pitchFamily="34" charset="-120"/>
              </a:rPr>
              <a:t>A four-year US retail transaction log — rich enough to tell a real story, and messy enough to need real cleaning.</a:t>
            </a:r>
            <a:endParaRPr lang="en-US" sz="1500" dirty="0"/>
          </a:p>
        </p:txBody>
      </p:sp>
      <p:sp>
        <p:nvSpPr>
          <p:cNvPr id="5" name="Shape 3"/>
          <p:cNvSpPr/>
          <p:nvPr/>
        </p:nvSpPr>
        <p:spPr>
          <a:xfrm>
            <a:off x="548640" y="2286000"/>
            <a:ext cx="2606040" cy="1554480"/>
          </a:xfrm>
          <a:prstGeom prst="roundRect">
            <a:avLst>
              <a:gd name="adj" fmla="val 4706"/>
            </a:avLst>
          </a:prstGeom>
          <a:solidFill>
            <a:srgbClr val="0B0B0F"/>
          </a:solidFill>
          <a:ln/>
        </p:spPr>
        <p:txBody>
          <a:bodyPr/>
          <a:lstStyle/>
          <a:p>
            <a:endParaRPr lang="en-US"/>
          </a:p>
        </p:txBody>
      </p:sp>
      <p:sp>
        <p:nvSpPr>
          <p:cNvPr id="6" name="Text 4"/>
          <p:cNvSpPr/>
          <p:nvPr/>
        </p:nvSpPr>
        <p:spPr>
          <a:xfrm>
            <a:off x="685800" y="2542032"/>
            <a:ext cx="2331720" cy="685800"/>
          </a:xfrm>
          <a:prstGeom prst="rect">
            <a:avLst/>
          </a:prstGeom>
          <a:noFill/>
          <a:ln/>
        </p:spPr>
        <p:txBody>
          <a:bodyPr wrap="square" lIns="0" tIns="0" rIns="0" bIns="0" rtlCol="0" anchor="ctr"/>
          <a:lstStyle/>
          <a:p>
            <a:pPr marL="0" indent="0" algn="ctr">
              <a:buNone/>
            </a:pPr>
            <a:r>
              <a:rPr lang="en-US" sz="3000" b="1" dirty="0">
                <a:solidFill>
                  <a:srgbClr val="108EFF"/>
                </a:solidFill>
                <a:latin typeface="Arial" pitchFamily="34" charset="0"/>
                <a:ea typeface="Arial" pitchFamily="34" charset="-122"/>
                <a:cs typeface="Arial" pitchFamily="34" charset="-120"/>
              </a:rPr>
              <a:t>9,800</a:t>
            </a:r>
            <a:endParaRPr lang="en-US" sz="3000" dirty="0"/>
          </a:p>
        </p:txBody>
      </p:sp>
      <p:sp>
        <p:nvSpPr>
          <p:cNvPr id="7" name="Text 5"/>
          <p:cNvSpPr/>
          <p:nvPr/>
        </p:nvSpPr>
        <p:spPr>
          <a:xfrm>
            <a:off x="685800" y="3246120"/>
            <a:ext cx="233172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Orders</a:t>
            </a:r>
            <a:endParaRPr lang="en-US" sz="1200" dirty="0"/>
          </a:p>
        </p:txBody>
      </p:sp>
      <p:sp>
        <p:nvSpPr>
          <p:cNvPr id="8" name="Shape 6"/>
          <p:cNvSpPr/>
          <p:nvPr/>
        </p:nvSpPr>
        <p:spPr>
          <a:xfrm>
            <a:off x="3383280" y="2286000"/>
            <a:ext cx="2606040" cy="1554480"/>
          </a:xfrm>
          <a:prstGeom prst="roundRect">
            <a:avLst>
              <a:gd name="adj" fmla="val 4706"/>
            </a:avLst>
          </a:prstGeom>
          <a:solidFill>
            <a:srgbClr val="0B0B0F"/>
          </a:solidFill>
          <a:ln/>
        </p:spPr>
        <p:txBody>
          <a:bodyPr/>
          <a:lstStyle/>
          <a:p>
            <a:endParaRPr lang="en-US"/>
          </a:p>
        </p:txBody>
      </p:sp>
      <p:sp>
        <p:nvSpPr>
          <p:cNvPr id="9" name="Text 7"/>
          <p:cNvSpPr/>
          <p:nvPr/>
        </p:nvSpPr>
        <p:spPr>
          <a:xfrm>
            <a:off x="3520440" y="2542032"/>
            <a:ext cx="2331720" cy="685800"/>
          </a:xfrm>
          <a:prstGeom prst="rect">
            <a:avLst/>
          </a:prstGeom>
          <a:noFill/>
          <a:ln/>
        </p:spPr>
        <p:txBody>
          <a:bodyPr wrap="square" lIns="0" tIns="0" rIns="0" bIns="0" rtlCol="0" anchor="ctr"/>
          <a:lstStyle/>
          <a:p>
            <a:pPr marL="0" indent="0" algn="ctr">
              <a:buNone/>
            </a:pPr>
            <a:r>
              <a:rPr lang="en-US" sz="3000" b="1" dirty="0">
                <a:solidFill>
                  <a:srgbClr val="108EFF"/>
                </a:solidFill>
                <a:latin typeface="Arial" pitchFamily="34" charset="0"/>
                <a:ea typeface="Arial" pitchFamily="34" charset="-122"/>
                <a:cs typeface="Arial" pitchFamily="34" charset="-120"/>
              </a:rPr>
              <a:t>18</a:t>
            </a:r>
            <a:endParaRPr lang="en-US" sz="3000" dirty="0"/>
          </a:p>
        </p:txBody>
      </p:sp>
      <p:sp>
        <p:nvSpPr>
          <p:cNvPr id="10" name="Text 8"/>
          <p:cNvSpPr/>
          <p:nvPr/>
        </p:nvSpPr>
        <p:spPr>
          <a:xfrm>
            <a:off x="3520440" y="3246120"/>
            <a:ext cx="233172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Data Columns</a:t>
            </a:r>
            <a:endParaRPr lang="en-US" sz="1200" dirty="0"/>
          </a:p>
        </p:txBody>
      </p:sp>
      <p:sp>
        <p:nvSpPr>
          <p:cNvPr id="11" name="Shape 9"/>
          <p:cNvSpPr/>
          <p:nvPr/>
        </p:nvSpPr>
        <p:spPr>
          <a:xfrm>
            <a:off x="6217920" y="2286000"/>
            <a:ext cx="2606040" cy="1554480"/>
          </a:xfrm>
          <a:prstGeom prst="roundRect">
            <a:avLst>
              <a:gd name="adj" fmla="val 4706"/>
            </a:avLst>
          </a:prstGeom>
          <a:solidFill>
            <a:srgbClr val="0B0B0F"/>
          </a:solidFill>
          <a:ln/>
        </p:spPr>
        <p:txBody>
          <a:bodyPr/>
          <a:lstStyle/>
          <a:p>
            <a:endParaRPr lang="en-US"/>
          </a:p>
        </p:txBody>
      </p:sp>
      <p:sp>
        <p:nvSpPr>
          <p:cNvPr id="12" name="Text 10"/>
          <p:cNvSpPr/>
          <p:nvPr/>
        </p:nvSpPr>
        <p:spPr>
          <a:xfrm>
            <a:off x="6355080" y="2542032"/>
            <a:ext cx="2331720" cy="685800"/>
          </a:xfrm>
          <a:prstGeom prst="rect">
            <a:avLst/>
          </a:prstGeom>
          <a:noFill/>
          <a:ln/>
        </p:spPr>
        <p:txBody>
          <a:bodyPr wrap="square" lIns="0" tIns="0" rIns="0" bIns="0" rtlCol="0" anchor="ctr"/>
          <a:lstStyle/>
          <a:p>
            <a:pPr marL="0" indent="0" algn="ctr">
              <a:buNone/>
            </a:pPr>
            <a:r>
              <a:rPr lang="en-US" sz="3000" b="1" dirty="0">
                <a:solidFill>
                  <a:srgbClr val="108EFF"/>
                </a:solidFill>
                <a:latin typeface="Arial" pitchFamily="34" charset="0"/>
                <a:ea typeface="Arial" pitchFamily="34" charset="-122"/>
                <a:cs typeface="Arial" pitchFamily="34" charset="-120"/>
              </a:rPr>
              <a:t>2015–19</a:t>
            </a:r>
            <a:endParaRPr lang="en-US" sz="3000" dirty="0"/>
          </a:p>
        </p:txBody>
      </p:sp>
      <p:sp>
        <p:nvSpPr>
          <p:cNvPr id="13" name="Text 11"/>
          <p:cNvSpPr/>
          <p:nvPr/>
        </p:nvSpPr>
        <p:spPr>
          <a:xfrm>
            <a:off x="6355080" y="3246120"/>
            <a:ext cx="233172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Years Covered</a:t>
            </a:r>
            <a:endParaRPr lang="en-US" sz="1200" dirty="0"/>
          </a:p>
        </p:txBody>
      </p:sp>
      <p:sp>
        <p:nvSpPr>
          <p:cNvPr id="14" name="Shape 12"/>
          <p:cNvSpPr/>
          <p:nvPr/>
        </p:nvSpPr>
        <p:spPr>
          <a:xfrm>
            <a:off x="9052560" y="2286000"/>
            <a:ext cx="2606040" cy="1554480"/>
          </a:xfrm>
          <a:prstGeom prst="roundRect">
            <a:avLst>
              <a:gd name="adj" fmla="val 4706"/>
            </a:avLst>
          </a:prstGeom>
          <a:solidFill>
            <a:srgbClr val="0B0B0F"/>
          </a:solidFill>
          <a:ln/>
        </p:spPr>
        <p:txBody>
          <a:bodyPr/>
          <a:lstStyle/>
          <a:p>
            <a:endParaRPr lang="en-US"/>
          </a:p>
        </p:txBody>
      </p:sp>
      <p:sp>
        <p:nvSpPr>
          <p:cNvPr id="15" name="Text 13"/>
          <p:cNvSpPr/>
          <p:nvPr/>
        </p:nvSpPr>
        <p:spPr>
          <a:xfrm>
            <a:off x="9189720" y="2542032"/>
            <a:ext cx="2331720" cy="685800"/>
          </a:xfrm>
          <a:prstGeom prst="rect">
            <a:avLst/>
          </a:prstGeom>
          <a:noFill/>
          <a:ln/>
        </p:spPr>
        <p:txBody>
          <a:bodyPr wrap="square" lIns="0" tIns="0" rIns="0" bIns="0" rtlCol="0" anchor="ctr"/>
          <a:lstStyle/>
          <a:p>
            <a:pPr marL="0" indent="0" algn="ctr">
              <a:buNone/>
            </a:pPr>
            <a:r>
              <a:rPr lang="en-US" sz="3000" b="1" dirty="0">
                <a:solidFill>
                  <a:srgbClr val="108EFF"/>
                </a:solidFill>
                <a:latin typeface="Arial" pitchFamily="34" charset="0"/>
                <a:ea typeface="Arial" pitchFamily="34" charset="-122"/>
                <a:cs typeface="Arial" pitchFamily="34" charset="-120"/>
              </a:rPr>
              <a:t>3</a:t>
            </a:r>
            <a:endParaRPr lang="en-US" sz="3000" dirty="0"/>
          </a:p>
        </p:txBody>
      </p:sp>
      <p:sp>
        <p:nvSpPr>
          <p:cNvPr id="16" name="Text 14"/>
          <p:cNvSpPr/>
          <p:nvPr/>
        </p:nvSpPr>
        <p:spPr>
          <a:xfrm>
            <a:off x="9189720" y="3246120"/>
            <a:ext cx="233172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Product Categories</a:t>
            </a:r>
            <a:endParaRPr lang="en-US" sz="1200" dirty="0"/>
          </a:p>
        </p:txBody>
      </p:sp>
      <p:sp>
        <p:nvSpPr>
          <p:cNvPr id="17" name="Text 15"/>
          <p:cNvSpPr/>
          <p:nvPr/>
        </p:nvSpPr>
        <p:spPr>
          <a:xfrm>
            <a:off x="548640" y="4160520"/>
            <a:ext cx="548640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Key fields we worked with:</a:t>
            </a:r>
            <a:endParaRPr lang="en-US" sz="1400" dirty="0"/>
          </a:p>
        </p:txBody>
      </p:sp>
      <p:sp>
        <p:nvSpPr>
          <p:cNvPr id="18" name="Shape 16"/>
          <p:cNvSpPr/>
          <p:nvPr/>
        </p:nvSpPr>
        <p:spPr>
          <a:xfrm>
            <a:off x="548640" y="4617720"/>
            <a:ext cx="1704442" cy="384048"/>
          </a:xfrm>
          <a:prstGeom prst="roundRect">
            <a:avLst>
              <a:gd name="adj" fmla="val 50000"/>
            </a:avLst>
          </a:prstGeom>
          <a:solidFill>
            <a:srgbClr val="F3F8FF"/>
          </a:solidFill>
          <a:ln/>
        </p:spPr>
        <p:txBody>
          <a:bodyPr/>
          <a:lstStyle/>
          <a:p>
            <a:endParaRPr lang="en-US"/>
          </a:p>
        </p:txBody>
      </p:sp>
      <p:sp>
        <p:nvSpPr>
          <p:cNvPr id="19" name="Text 17"/>
          <p:cNvSpPr/>
          <p:nvPr/>
        </p:nvSpPr>
        <p:spPr>
          <a:xfrm>
            <a:off x="548640" y="4617720"/>
            <a:ext cx="1704442" cy="384048"/>
          </a:xfrm>
          <a:prstGeom prst="rect">
            <a:avLst/>
          </a:prstGeom>
          <a:noFill/>
          <a:ln/>
        </p:spPr>
        <p:txBody>
          <a:bodyPr wrap="square" lIns="0" tIns="0" rIns="0" bIns="0" rtlCol="0" anchor="ctr"/>
          <a:lstStyle/>
          <a:p>
            <a:pPr marL="0" indent="0" algn="ctr">
              <a:buNone/>
            </a:pPr>
            <a:r>
              <a:rPr lang="en-US" sz="1150" dirty="0">
                <a:solidFill>
                  <a:srgbClr val="0B0B0F"/>
                </a:solidFill>
                <a:latin typeface="Arial" pitchFamily="34" charset="0"/>
                <a:ea typeface="Arial" pitchFamily="34" charset="-122"/>
                <a:cs typeface="Arial" pitchFamily="34" charset="-120"/>
              </a:rPr>
              <a:t>Order &amp; Ship Dates</a:t>
            </a:r>
            <a:endParaRPr lang="en-US" sz="1150" dirty="0"/>
          </a:p>
        </p:txBody>
      </p:sp>
      <p:sp>
        <p:nvSpPr>
          <p:cNvPr id="20" name="Shape 18"/>
          <p:cNvSpPr/>
          <p:nvPr/>
        </p:nvSpPr>
        <p:spPr>
          <a:xfrm>
            <a:off x="2417674" y="4617720"/>
            <a:ext cx="980237" cy="384048"/>
          </a:xfrm>
          <a:prstGeom prst="roundRect">
            <a:avLst>
              <a:gd name="adj" fmla="val 50000"/>
            </a:avLst>
          </a:prstGeom>
          <a:solidFill>
            <a:srgbClr val="F3F8FF"/>
          </a:solidFill>
          <a:ln/>
        </p:spPr>
        <p:txBody>
          <a:bodyPr/>
          <a:lstStyle/>
          <a:p>
            <a:endParaRPr lang="en-US"/>
          </a:p>
        </p:txBody>
      </p:sp>
      <p:sp>
        <p:nvSpPr>
          <p:cNvPr id="21" name="Text 19"/>
          <p:cNvSpPr/>
          <p:nvPr/>
        </p:nvSpPr>
        <p:spPr>
          <a:xfrm>
            <a:off x="2417674" y="4617720"/>
            <a:ext cx="980237" cy="384048"/>
          </a:xfrm>
          <a:prstGeom prst="rect">
            <a:avLst/>
          </a:prstGeom>
          <a:noFill/>
          <a:ln/>
        </p:spPr>
        <p:txBody>
          <a:bodyPr wrap="square" lIns="0" tIns="0" rIns="0" bIns="0" rtlCol="0" anchor="ctr"/>
          <a:lstStyle/>
          <a:p>
            <a:pPr marL="0" indent="0" algn="ctr">
              <a:buNone/>
            </a:pPr>
            <a:r>
              <a:rPr lang="en-US" sz="1150" dirty="0">
                <a:solidFill>
                  <a:srgbClr val="0B0B0F"/>
                </a:solidFill>
                <a:latin typeface="Arial" pitchFamily="34" charset="0"/>
                <a:ea typeface="Arial" pitchFamily="34" charset="-122"/>
                <a:cs typeface="Arial" pitchFamily="34" charset="-120"/>
              </a:rPr>
              <a:t>Ship Mode</a:t>
            </a:r>
            <a:endParaRPr lang="en-US" sz="1150" dirty="0"/>
          </a:p>
        </p:txBody>
      </p:sp>
      <p:sp>
        <p:nvSpPr>
          <p:cNvPr id="22" name="Shape 20"/>
          <p:cNvSpPr/>
          <p:nvPr/>
        </p:nvSpPr>
        <p:spPr>
          <a:xfrm>
            <a:off x="3562502" y="4617720"/>
            <a:ext cx="1704442" cy="384048"/>
          </a:xfrm>
          <a:prstGeom prst="roundRect">
            <a:avLst>
              <a:gd name="adj" fmla="val 50000"/>
            </a:avLst>
          </a:prstGeom>
          <a:solidFill>
            <a:srgbClr val="F3F8FF"/>
          </a:solidFill>
          <a:ln/>
        </p:spPr>
        <p:txBody>
          <a:bodyPr/>
          <a:lstStyle/>
          <a:p>
            <a:endParaRPr lang="en-US"/>
          </a:p>
        </p:txBody>
      </p:sp>
      <p:sp>
        <p:nvSpPr>
          <p:cNvPr id="23" name="Text 21"/>
          <p:cNvSpPr/>
          <p:nvPr/>
        </p:nvSpPr>
        <p:spPr>
          <a:xfrm>
            <a:off x="3562502" y="4617720"/>
            <a:ext cx="1704442" cy="384048"/>
          </a:xfrm>
          <a:prstGeom prst="rect">
            <a:avLst/>
          </a:prstGeom>
          <a:noFill/>
          <a:ln/>
        </p:spPr>
        <p:txBody>
          <a:bodyPr wrap="square" lIns="0" tIns="0" rIns="0" bIns="0" rtlCol="0" anchor="ctr"/>
          <a:lstStyle/>
          <a:p>
            <a:pPr marL="0" indent="0" algn="ctr">
              <a:buNone/>
            </a:pPr>
            <a:r>
              <a:rPr lang="en-US" sz="1150" dirty="0">
                <a:solidFill>
                  <a:srgbClr val="0B0B0F"/>
                </a:solidFill>
                <a:latin typeface="Arial" pitchFamily="34" charset="0"/>
                <a:ea typeface="Arial" pitchFamily="34" charset="-122"/>
                <a:cs typeface="Arial" pitchFamily="34" charset="-120"/>
              </a:rPr>
              <a:t>Customer &amp; Segment</a:t>
            </a:r>
            <a:endParaRPr lang="en-US" sz="1150" dirty="0"/>
          </a:p>
        </p:txBody>
      </p:sp>
      <p:sp>
        <p:nvSpPr>
          <p:cNvPr id="24" name="Shape 22"/>
          <p:cNvSpPr/>
          <p:nvPr/>
        </p:nvSpPr>
        <p:spPr>
          <a:xfrm>
            <a:off x="5431536" y="4617720"/>
            <a:ext cx="1784909" cy="384048"/>
          </a:xfrm>
          <a:prstGeom prst="roundRect">
            <a:avLst>
              <a:gd name="adj" fmla="val 50000"/>
            </a:avLst>
          </a:prstGeom>
          <a:solidFill>
            <a:srgbClr val="F3F8FF"/>
          </a:solidFill>
          <a:ln/>
        </p:spPr>
        <p:txBody>
          <a:bodyPr/>
          <a:lstStyle/>
          <a:p>
            <a:endParaRPr lang="en-US"/>
          </a:p>
        </p:txBody>
      </p:sp>
      <p:sp>
        <p:nvSpPr>
          <p:cNvPr id="25" name="Text 23"/>
          <p:cNvSpPr/>
          <p:nvPr/>
        </p:nvSpPr>
        <p:spPr>
          <a:xfrm>
            <a:off x="5431536" y="4617720"/>
            <a:ext cx="1784909" cy="384048"/>
          </a:xfrm>
          <a:prstGeom prst="rect">
            <a:avLst/>
          </a:prstGeom>
          <a:noFill/>
          <a:ln/>
        </p:spPr>
        <p:txBody>
          <a:bodyPr wrap="square" lIns="0" tIns="0" rIns="0" bIns="0" rtlCol="0" anchor="ctr"/>
          <a:lstStyle/>
          <a:p>
            <a:pPr marL="0" indent="0" algn="ctr">
              <a:buNone/>
            </a:pPr>
            <a:r>
              <a:rPr lang="en-US" sz="1150" dirty="0">
                <a:solidFill>
                  <a:srgbClr val="0B0B0F"/>
                </a:solidFill>
                <a:latin typeface="Arial" pitchFamily="34" charset="0"/>
                <a:ea typeface="Arial" pitchFamily="34" charset="-122"/>
                <a:cs typeface="Arial" pitchFamily="34" charset="-120"/>
              </a:rPr>
              <a:t>Region, State, City</a:t>
            </a:r>
            <a:endParaRPr lang="en-US" sz="1150" dirty="0"/>
          </a:p>
        </p:txBody>
      </p:sp>
      <p:sp>
        <p:nvSpPr>
          <p:cNvPr id="26" name="Shape 24"/>
          <p:cNvSpPr/>
          <p:nvPr/>
        </p:nvSpPr>
        <p:spPr>
          <a:xfrm>
            <a:off x="7381037" y="4617720"/>
            <a:ext cx="2106778" cy="384048"/>
          </a:xfrm>
          <a:prstGeom prst="roundRect">
            <a:avLst>
              <a:gd name="adj" fmla="val 50000"/>
            </a:avLst>
          </a:prstGeom>
          <a:solidFill>
            <a:srgbClr val="F3F8FF"/>
          </a:solidFill>
          <a:ln/>
        </p:spPr>
        <p:txBody>
          <a:bodyPr/>
          <a:lstStyle/>
          <a:p>
            <a:endParaRPr lang="en-US"/>
          </a:p>
        </p:txBody>
      </p:sp>
      <p:sp>
        <p:nvSpPr>
          <p:cNvPr id="27" name="Text 25"/>
          <p:cNvSpPr/>
          <p:nvPr/>
        </p:nvSpPr>
        <p:spPr>
          <a:xfrm>
            <a:off x="7381037" y="4617720"/>
            <a:ext cx="2106778" cy="384048"/>
          </a:xfrm>
          <a:prstGeom prst="rect">
            <a:avLst/>
          </a:prstGeom>
          <a:noFill/>
          <a:ln/>
        </p:spPr>
        <p:txBody>
          <a:bodyPr wrap="square" lIns="0" tIns="0" rIns="0" bIns="0" rtlCol="0" anchor="ctr"/>
          <a:lstStyle/>
          <a:p>
            <a:pPr marL="0" indent="0" algn="ctr">
              <a:buNone/>
            </a:pPr>
            <a:r>
              <a:rPr lang="en-US" sz="1150" dirty="0">
                <a:solidFill>
                  <a:srgbClr val="0B0B0F"/>
                </a:solidFill>
                <a:latin typeface="Arial" pitchFamily="34" charset="0"/>
                <a:ea typeface="Arial" pitchFamily="34" charset="-122"/>
                <a:cs typeface="Arial" pitchFamily="34" charset="-120"/>
              </a:rPr>
              <a:t>Category &amp; Sub-Category</a:t>
            </a:r>
            <a:endParaRPr lang="en-US" sz="1150" dirty="0"/>
          </a:p>
        </p:txBody>
      </p:sp>
      <p:sp>
        <p:nvSpPr>
          <p:cNvPr id="28" name="Shape 26"/>
          <p:cNvSpPr/>
          <p:nvPr/>
        </p:nvSpPr>
        <p:spPr>
          <a:xfrm>
            <a:off x="9652406" y="4617720"/>
            <a:ext cx="1221638" cy="384048"/>
          </a:xfrm>
          <a:prstGeom prst="roundRect">
            <a:avLst>
              <a:gd name="adj" fmla="val 50000"/>
            </a:avLst>
          </a:prstGeom>
          <a:solidFill>
            <a:srgbClr val="F3F8FF"/>
          </a:solidFill>
          <a:ln/>
        </p:spPr>
        <p:txBody>
          <a:bodyPr/>
          <a:lstStyle/>
          <a:p>
            <a:endParaRPr lang="en-US"/>
          </a:p>
        </p:txBody>
      </p:sp>
      <p:sp>
        <p:nvSpPr>
          <p:cNvPr id="29" name="Text 27"/>
          <p:cNvSpPr/>
          <p:nvPr/>
        </p:nvSpPr>
        <p:spPr>
          <a:xfrm>
            <a:off x="9652406" y="4617720"/>
            <a:ext cx="1221638" cy="384048"/>
          </a:xfrm>
          <a:prstGeom prst="rect">
            <a:avLst/>
          </a:prstGeom>
          <a:noFill/>
          <a:ln/>
        </p:spPr>
        <p:txBody>
          <a:bodyPr wrap="square" lIns="0" tIns="0" rIns="0" bIns="0" rtlCol="0" anchor="ctr"/>
          <a:lstStyle/>
          <a:p>
            <a:pPr marL="0" indent="0" algn="ctr">
              <a:buNone/>
            </a:pPr>
            <a:r>
              <a:rPr lang="en-US" sz="1150" dirty="0">
                <a:solidFill>
                  <a:srgbClr val="0B0B0F"/>
                </a:solidFill>
                <a:latin typeface="Arial" pitchFamily="34" charset="0"/>
                <a:ea typeface="Arial" pitchFamily="34" charset="-122"/>
                <a:cs typeface="Arial" pitchFamily="34" charset="-120"/>
              </a:rPr>
              <a:t>Product Name</a:t>
            </a:r>
            <a:endParaRPr lang="en-US" sz="1150" dirty="0"/>
          </a:p>
        </p:txBody>
      </p:sp>
      <p:sp>
        <p:nvSpPr>
          <p:cNvPr id="30" name="Shape 28"/>
          <p:cNvSpPr/>
          <p:nvPr/>
        </p:nvSpPr>
        <p:spPr>
          <a:xfrm>
            <a:off x="548640" y="5120640"/>
            <a:ext cx="1141171" cy="384048"/>
          </a:xfrm>
          <a:prstGeom prst="roundRect">
            <a:avLst>
              <a:gd name="adj" fmla="val 50000"/>
            </a:avLst>
          </a:prstGeom>
          <a:solidFill>
            <a:srgbClr val="F3F8FF"/>
          </a:solidFill>
          <a:ln/>
        </p:spPr>
        <p:txBody>
          <a:bodyPr/>
          <a:lstStyle/>
          <a:p>
            <a:endParaRPr lang="en-US"/>
          </a:p>
        </p:txBody>
      </p:sp>
      <p:sp>
        <p:nvSpPr>
          <p:cNvPr id="31" name="Text 29"/>
          <p:cNvSpPr/>
          <p:nvPr/>
        </p:nvSpPr>
        <p:spPr>
          <a:xfrm>
            <a:off x="548640" y="5120640"/>
            <a:ext cx="1141171" cy="384048"/>
          </a:xfrm>
          <a:prstGeom prst="rect">
            <a:avLst/>
          </a:prstGeom>
          <a:noFill/>
          <a:ln/>
        </p:spPr>
        <p:txBody>
          <a:bodyPr wrap="square" lIns="0" tIns="0" rIns="0" bIns="0" rtlCol="0" anchor="ctr"/>
          <a:lstStyle/>
          <a:p>
            <a:pPr marL="0" indent="0" algn="ctr">
              <a:buNone/>
            </a:pPr>
            <a:r>
              <a:rPr lang="en-US" sz="1150" dirty="0">
                <a:solidFill>
                  <a:srgbClr val="0B0B0F"/>
                </a:solidFill>
                <a:latin typeface="Arial" pitchFamily="34" charset="0"/>
                <a:ea typeface="Arial" pitchFamily="34" charset="-122"/>
                <a:cs typeface="Arial" pitchFamily="34" charset="-120"/>
              </a:rPr>
              <a:t>Sales Value</a:t>
            </a:r>
            <a:endParaRPr lang="en-US" sz="1150" dirty="0"/>
          </a:p>
        </p:txBody>
      </p:sp>
      <p:sp>
        <p:nvSpPr>
          <p:cNvPr id="32" name="Text 30"/>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BEHIND THE SCENES</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Data Preparation — Our Approach</a:t>
            </a:r>
            <a:endParaRPr lang="en-US" sz="3000" dirty="0"/>
          </a:p>
        </p:txBody>
      </p:sp>
      <p:sp>
        <p:nvSpPr>
          <p:cNvPr id="4" name="Text 2"/>
          <p:cNvSpPr/>
          <p:nvPr/>
        </p:nvSpPr>
        <p:spPr>
          <a:xfrm>
            <a:off x="548640" y="1508760"/>
            <a:ext cx="10789920" cy="457200"/>
          </a:xfrm>
          <a:prstGeom prst="rect">
            <a:avLst/>
          </a:prstGeom>
          <a:noFill/>
          <a:ln/>
        </p:spPr>
        <p:txBody>
          <a:bodyPr wrap="square" lIns="0" tIns="0" rIns="0" bIns="0" rtlCol="0" anchor="ctr"/>
          <a:lstStyle/>
          <a:p>
            <a:pPr marL="0" indent="0">
              <a:buNone/>
            </a:pPr>
            <a:r>
              <a:rPr lang="en-US" sz="1500" dirty="0">
                <a:solidFill>
                  <a:srgbClr val="6B6B70"/>
                </a:solidFill>
                <a:latin typeface="Arial" pitchFamily="34" charset="0"/>
                <a:ea typeface="Arial" pitchFamily="34" charset="-122"/>
                <a:cs typeface="Arial" pitchFamily="34" charset="-120"/>
              </a:rPr>
              <a:t>Two-stage cleanup: Python for structure, SQL for validation — zero missing values by the end.</a:t>
            </a:r>
            <a:endParaRPr lang="en-US" sz="1500" dirty="0"/>
          </a:p>
        </p:txBody>
      </p:sp>
      <p:sp>
        <p:nvSpPr>
          <p:cNvPr id="5" name="Shape 3"/>
          <p:cNvSpPr/>
          <p:nvPr/>
        </p:nvSpPr>
        <p:spPr>
          <a:xfrm>
            <a:off x="548640" y="2194560"/>
            <a:ext cx="5394960" cy="3931920"/>
          </a:xfrm>
          <a:prstGeom prst="roundRect">
            <a:avLst>
              <a:gd name="adj" fmla="val 2326"/>
            </a:avLst>
          </a:prstGeom>
          <a:solidFill>
            <a:srgbClr val="0B0B0F"/>
          </a:solidFill>
          <a:ln/>
        </p:spPr>
        <p:txBody>
          <a:bodyPr/>
          <a:lstStyle/>
          <a:p>
            <a:endParaRPr lang="en-US"/>
          </a:p>
        </p:txBody>
      </p:sp>
      <p:sp>
        <p:nvSpPr>
          <p:cNvPr id="6" name="Shape 4"/>
          <p:cNvSpPr/>
          <p:nvPr/>
        </p:nvSpPr>
        <p:spPr>
          <a:xfrm>
            <a:off x="868680" y="2450592"/>
            <a:ext cx="457200" cy="457200"/>
          </a:xfrm>
          <a:prstGeom prst="ellipse">
            <a:avLst/>
          </a:prstGeom>
          <a:solidFill>
            <a:srgbClr val="108E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60120" y="2542032"/>
            <a:ext cx="274320" cy="274320"/>
          </a:xfrm>
          <a:prstGeom prst="rect">
            <a:avLst/>
          </a:prstGeom>
        </p:spPr>
      </p:pic>
      <p:sp>
        <p:nvSpPr>
          <p:cNvPr id="8" name="Text 5"/>
          <p:cNvSpPr/>
          <p:nvPr/>
        </p:nvSpPr>
        <p:spPr>
          <a:xfrm>
            <a:off x="1463040" y="2487168"/>
            <a:ext cx="36576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Python &amp; pandas</a:t>
            </a:r>
            <a:endParaRPr lang="en-US" sz="1600" dirty="0"/>
          </a:p>
        </p:txBody>
      </p:sp>
      <p:sp>
        <p:nvSpPr>
          <p:cNvPr id="9" name="Text 6"/>
          <p:cNvSpPr/>
          <p:nvPr/>
        </p:nvSpPr>
        <p:spPr>
          <a:xfrm>
            <a:off x="868680" y="3063240"/>
            <a:ext cx="4754880" cy="28346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E5E5E5"/>
                </a:solidFill>
                <a:latin typeface="Arial" pitchFamily="34" charset="0"/>
                <a:ea typeface="Arial" pitchFamily="34" charset="-122"/>
                <a:cs typeface="Arial" pitchFamily="34" charset="-120"/>
              </a:rPr>
              <a:t>Detected 11 missing postal codes with df.isna().sum()</a:t>
            </a:r>
            <a:endParaRPr lang="en-US" sz="1300" dirty="0"/>
          </a:p>
          <a:p>
            <a:pPr marL="342900" indent="-342900">
              <a:spcAft>
                <a:spcPts val="1000"/>
              </a:spcAft>
              <a:buSzPct val="100000"/>
              <a:buChar char="•"/>
            </a:pPr>
            <a:r>
              <a:rPr lang="en-US" sz="1300" dirty="0">
                <a:solidFill>
                  <a:srgbClr val="E5E5E5"/>
                </a:solidFill>
                <a:latin typeface="Arial" pitchFamily="34" charset="0"/>
                <a:ea typeface="Arial" pitchFamily="34" charset="-122"/>
                <a:cs typeface="Arial" pitchFamily="34" charset="-120"/>
              </a:rPr>
              <a:t>Checked for duplicate rows with df.duplicated()</a:t>
            </a:r>
            <a:endParaRPr lang="en-US" sz="1300" dirty="0"/>
          </a:p>
          <a:p>
            <a:pPr marL="342900" indent="-342900">
              <a:spcAft>
                <a:spcPts val="1000"/>
              </a:spcAft>
              <a:buSzPct val="100000"/>
              <a:buChar char="•"/>
            </a:pPr>
            <a:r>
              <a:rPr lang="en-US" sz="1300" dirty="0">
                <a:solidFill>
                  <a:srgbClr val="E5E5E5"/>
                </a:solidFill>
                <a:latin typeface="Arial" pitchFamily="34" charset="0"/>
                <a:ea typeface="Arial" pitchFamily="34" charset="-122"/>
                <a:cs typeface="Arial" pitchFamily="34" charset="-120"/>
              </a:rPr>
              <a:t>Converted Order/Ship Date columns to true datetime objects</a:t>
            </a:r>
            <a:endParaRPr lang="en-US" sz="1300" dirty="0"/>
          </a:p>
          <a:p>
            <a:pPr marL="342900" indent="-342900">
              <a:spcAft>
                <a:spcPts val="1000"/>
              </a:spcAft>
              <a:buSzPct val="100000"/>
              <a:buChar char="•"/>
            </a:pPr>
            <a:r>
              <a:rPr lang="en-US" sz="1300" dirty="0">
                <a:solidFill>
                  <a:srgbClr val="E5E5E5"/>
                </a:solidFill>
                <a:latin typeface="Arial" pitchFamily="34" charset="0"/>
                <a:ea typeface="Arial" pitchFamily="34" charset="-122"/>
                <a:cs typeface="Arial" pitchFamily="34" charset="-120"/>
              </a:rPr>
              <a:t>Standardized postal codes &amp; trimmed whitespace text columns</a:t>
            </a:r>
            <a:endParaRPr lang="en-US" sz="1300" dirty="0"/>
          </a:p>
          <a:p>
            <a:pPr marL="342900" indent="-342900">
              <a:spcAft>
                <a:spcPts val="1000"/>
              </a:spcAft>
              <a:buSzPct val="100000"/>
              <a:buChar char="•"/>
            </a:pPr>
            <a:r>
              <a:rPr lang="en-US" sz="1300" dirty="0">
                <a:solidFill>
                  <a:srgbClr val="E5E5E5"/>
                </a:solidFill>
                <a:latin typeface="Arial" pitchFamily="34" charset="0"/>
                <a:ea typeface="Arial" pitchFamily="34" charset="-122"/>
                <a:cs typeface="Arial" pitchFamily="34" charset="-120"/>
              </a:rPr>
              <a:t>Normalized column names to lowercase/underscore</a:t>
            </a:r>
            <a:endParaRPr lang="en-US" sz="1300" dirty="0"/>
          </a:p>
        </p:txBody>
      </p:sp>
      <p:sp>
        <p:nvSpPr>
          <p:cNvPr id="10" name="Shape 7"/>
          <p:cNvSpPr/>
          <p:nvPr/>
        </p:nvSpPr>
        <p:spPr>
          <a:xfrm>
            <a:off x="6217920" y="2194560"/>
            <a:ext cx="5394960" cy="3931920"/>
          </a:xfrm>
          <a:prstGeom prst="roundRect">
            <a:avLst>
              <a:gd name="adj" fmla="val 2326"/>
            </a:avLst>
          </a:prstGeom>
          <a:solidFill>
            <a:srgbClr val="F3F8FF"/>
          </a:solidFill>
          <a:ln w="12700">
            <a:solidFill>
              <a:srgbClr val="D8E8FF"/>
            </a:solidFill>
            <a:prstDash val="solid"/>
          </a:ln>
        </p:spPr>
        <p:txBody>
          <a:bodyPr/>
          <a:lstStyle/>
          <a:p>
            <a:endParaRPr lang="en-US"/>
          </a:p>
        </p:txBody>
      </p:sp>
      <p:sp>
        <p:nvSpPr>
          <p:cNvPr id="11" name="Shape 8"/>
          <p:cNvSpPr/>
          <p:nvPr/>
        </p:nvSpPr>
        <p:spPr>
          <a:xfrm>
            <a:off x="6537960" y="2450592"/>
            <a:ext cx="457200" cy="457200"/>
          </a:xfrm>
          <a:prstGeom prst="ellipse">
            <a:avLst/>
          </a:prstGeom>
          <a:solidFill>
            <a:srgbClr val="108E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29400" y="2542032"/>
            <a:ext cx="274320" cy="274320"/>
          </a:xfrm>
          <a:prstGeom prst="rect">
            <a:avLst/>
          </a:prstGeom>
        </p:spPr>
      </p:pic>
      <p:sp>
        <p:nvSpPr>
          <p:cNvPr id="13" name="Text 9"/>
          <p:cNvSpPr/>
          <p:nvPr/>
        </p:nvSpPr>
        <p:spPr>
          <a:xfrm>
            <a:off x="7132320" y="2487168"/>
            <a:ext cx="3657600" cy="365760"/>
          </a:xfrm>
          <a:prstGeom prst="rect">
            <a:avLst/>
          </a:prstGeom>
          <a:noFill/>
          <a:ln/>
        </p:spPr>
        <p:txBody>
          <a:bodyPr wrap="square" lIns="0" tIns="0" rIns="0" bIns="0" rtlCol="0" anchor="ctr"/>
          <a:lstStyle/>
          <a:p>
            <a:pPr marL="0" indent="0">
              <a:buNone/>
            </a:pPr>
            <a:r>
              <a:rPr lang="en-US" sz="1600" b="1" dirty="0">
                <a:solidFill>
                  <a:srgbClr val="0B0B0F"/>
                </a:solidFill>
                <a:latin typeface="Arial" pitchFamily="34" charset="0"/>
                <a:ea typeface="Arial" pitchFamily="34" charset="-122"/>
                <a:cs typeface="Arial" pitchFamily="34" charset="-120"/>
              </a:rPr>
              <a:t>SQL Validation</a:t>
            </a:r>
            <a:endParaRPr lang="en-US" sz="1600" dirty="0"/>
          </a:p>
        </p:txBody>
      </p:sp>
      <p:sp>
        <p:nvSpPr>
          <p:cNvPr id="14" name="Text 10"/>
          <p:cNvSpPr/>
          <p:nvPr/>
        </p:nvSpPr>
        <p:spPr>
          <a:xfrm>
            <a:off x="6537960" y="3063240"/>
            <a:ext cx="4754880" cy="28346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6B6B70"/>
                </a:solidFill>
                <a:latin typeface="Arial" pitchFamily="34" charset="0"/>
                <a:ea typeface="Arial" pitchFamily="34" charset="-122"/>
                <a:cs typeface="Arial" pitchFamily="34" charset="-120"/>
              </a:rPr>
              <a:t>Queried for NULL Customer_ID / postal_code across the table</a:t>
            </a:r>
            <a:endParaRPr lang="en-US" sz="1300" dirty="0"/>
          </a:p>
          <a:p>
            <a:pPr marL="342900" indent="-342900">
              <a:spcAft>
                <a:spcPts val="1000"/>
              </a:spcAft>
              <a:buSzPct val="100000"/>
              <a:buChar char="•"/>
            </a:pPr>
            <a:r>
              <a:rPr lang="en-US" sz="1300" dirty="0">
                <a:solidFill>
                  <a:srgbClr val="6B6B70"/>
                </a:solidFill>
                <a:latin typeface="Arial" pitchFamily="34" charset="0"/>
                <a:ea typeface="Arial" pitchFamily="34" charset="-122"/>
                <a:cs typeface="Arial" pitchFamily="34" charset="-120"/>
              </a:rPr>
              <a:t>Updated missing postal codes to a verified default value</a:t>
            </a:r>
            <a:endParaRPr lang="en-US" sz="1300" dirty="0"/>
          </a:p>
          <a:p>
            <a:pPr marL="342900" indent="-342900">
              <a:spcAft>
                <a:spcPts val="1000"/>
              </a:spcAft>
              <a:buSzPct val="100000"/>
              <a:buChar char="•"/>
            </a:pPr>
            <a:r>
              <a:rPr lang="en-US" sz="1300" dirty="0">
                <a:solidFill>
                  <a:srgbClr val="6B6B70"/>
                </a:solidFill>
                <a:latin typeface="Arial" pitchFamily="34" charset="0"/>
                <a:ea typeface="Arial" pitchFamily="34" charset="-122"/>
                <a:cs typeface="Arial" pitchFamily="34" charset="-120"/>
              </a:rPr>
              <a:t>Removed duplicates via self-join &amp; ROW_NUMBER window function</a:t>
            </a:r>
            <a:endParaRPr lang="en-US" sz="1300" dirty="0"/>
          </a:p>
          <a:p>
            <a:pPr marL="342900" indent="-342900">
              <a:spcAft>
                <a:spcPts val="1000"/>
              </a:spcAft>
              <a:buSzPct val="100000"/>
              <a:buChar char="•"/>
            </a:pPr>
            <a:r>
              <a:rPr lang="en-US" sz="1300" dirty="0">
                <a:solidFill>
                  <a:srgbClr val="6B6B70"/>
                </a:solidFill>
                <a:latin typeface="Arial" pitchFamily="34" charset="0"/>
                <a:ea typeface="Arial" pitchFamily="34" charset="-122"/>
                <a:cs typeface="Arial" pitchFamily="34" charset="-120"/>
              </a:rPr>
              <a:t>Checked Sales for zero/negative values (data-integrity check)</a:t>
            </a:r>
            <a:endParaRPr lang="en-US" sz="1300" dirty="0"/>
          </a:p>
          <a:p>
            <a:pPr marL="342900" indent="-342900">
              <a:spcAft>
                <a:spcPts val="1000"/>
              </a:spcAft>
              <a:buSzPct val="100000"/>
              <a:buChar char="•"/>
            </a:pPr>
            <a:r>
              <a:rPr lang="en-US" sz="1300" dirty="0">
                <a:solidFill>
                  <a:srgbClr val="6B6B70"/>
                </a:solidFill>
                <a:latin typeface="Arial" pitchFamily="34" charset="0"/>
                <a:ea typeface="Arial" pitchFamily="34" charset="-122"/>
                <a:cs typeface="Arial" pitchFamily="34" charset="-120"/>
              </a:rPr>
              <a:t>Confirmed a clean, query-ready table for analysis</a:t>
            </a:r>
            <a:endParaRPr lang="en-US" sz="1300" dirty="0"/>
          </a:p>
        </p:txBody>
      </p:sp>
      <p:sp>
        <p:nvSpPr>
          <p:cNvPr id="15" name="Text 11"/>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STAGE 1 · NOTEBOOK WALKTHROUGH</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Python Cleaning Workflow</a:t>
            </a:r>
            <a:endParaRPr lang="en-US" sz="3000" dirty="0"/>
          </a:p>
        </p:txBody>
      </p:sp>
      <p:sp>
        <p:nvSpPr>
          <p:cNvPr id="4" name="Shape 2"/>
          <p:cNvSpPr/>
          <p:nvPr/>
        </p:nvSpPr>
        <p:spPr>
          <a:xfrm>
            <a:off x="475488" y="1755647"/>
            <a:ext cx="6181344" cy="3713499"/>
          </a:xfrm>
          <a:prstGeom prst="roundRect">
            <a:avLst>
              <a:gd name="adj" fmla="val 2122"/>
            </a:avLst>
          </a:prstGeom>
          <a:solidFill>
            <a:srgbClr val="FFFFFF"/>
          </a:solidFill>
          <a:ln w="12700">
            <a:solidFill>
              <a:srgbClr val="E2E8F0"/>
            </a:solidFill>
            <a:prstDash val="solid"/>
          </a:ln>
          <a:effectLst>
            <a:outerShdw blurRad="127000" dist="38100" dir="5400000" algn="bl" rotWithShape="0">
              <a:srgbClr val="0B5FCC">
                <a:alpha val="12000"/>
              </a:srgbClr>
            </a:outerShdw>
          </a:effectLst>
        </p:spPr>
        <p:txBody>
          <a:bodyPr/>
          <a:lstStyle/>
          <a:p>
            <a:endParaRPr lang="en-US"/>
          </a:p>
        </p:txBody>
      </p:sp>
      <p:pic>
        <p:nvPicPr>
          <p:cNvPr id="5" name="Image 0" descr="images/sql/py_missing.jpg"/>
          <p:cNvPicPr>
            <a:picLocks noChangeAspect="1"/>
          </p:cNvPicPr>
          <p:nvPr/>
        </p:nvPicPr>
        <p:blipFill>
          <a:blip r:embed="rId3"/>
          <a:stretch>
            <a:fillRect/>
          </a:stretch>
        </p:blipFill>
        <p:spPr>
          <a:xfrm>
            <a:off x="548640" y="1828800"/>
            <a:ext cx="6035040" cy="3461350"/>
          </a:xfrm>
          <a:prstGeom prst="rect">
            <a:avLst/>
          </a:prstGeom>
        </p:spPr>
      </p:pic>
      <p:sp>
        <p:nvSpPr>
          <p:cNvPr id="6" name="Text 3"/>
          <p:cNvSpPr/>
          <p:nvPr/>
        </p:nvSpPr>
        <p:spPr>
          <a:xfrm>
            <a:off x="475488" y="5741017"/>
            <a:ext cx="6035040" cy="320040"/>
          </a:xfrm>
          <a:prstGeom prst="rect">
            <a:avLst/>
          </a:prstGeom>
          <a:noFill/>
          <a:ln/>
        </p:spPr>
        <p:txBody>
          <a:bodyPr wrap="square" lIns="0" tIns="0" rIns="0" bIns="0" rtlCol="0" anchor="ctr"/>
          <a:lstStyle/>
          <a:p>
            <a:pPr marL="0" indent="0">
              <a:buNone/>
            </a:pPr>
            <a:r>
              <a:rPr lang="en-US" sz="1100" i="1" dirty="0">
                <a:solidFill>
                  <a:srgbClr val="6B6B70"/>
                </a:solidFill>
                <a:latin typeface="Arial" pitchFamily="34" charset="0"/>
                <a:ea typeface="Arial" pitchFamily="34" charset="-122"/>
                <a:cs typeface="Arial" pitchFamily="34" charset="-120"/>
              </a:rPr>
              <a:t>Actual notebook cell: df.isna().sum()</a:t>
            </a:r>
            <a:endParaRPr lang="en-US" sz="1100" dirty="0"/>
          </a:p>
        </p:txBody>
      </p:sp>
      <p:sp>
        <p:nvSpPr>
          <p:cNvPr id="7" name="Text 4"/>
          <p:cNvSpPr/>
          <p:nvPr/>
        </p:nvSpPr>
        <p:spPr>
          <a:xfrm>
            <a:off x="6949440" y="1828800"/>
            <a:ext cx="4663440" cy="365760"/>
          </a:xfrm>
          <a:prstGeom prst="rect">
            <a:avLst/>
          </a:prstGeom>
          <a:noFill/>
          <a:ln/>
        </p:spPr>
        <p:txBody>
          <a:bodyPr wrap="square" lIns="0" tIns="0" rIns="0" bIns="0" rtlCol="0" anchor="ctr"/>
          <a:lstStyle/>
          <a:p>
            <a:pPr marL="0" indent="0">
              <a:buNone/>
            </a:pPr>
            <a:r>
              <a:rPr lang="en-US" sz="1500" b="1" dirty="0">
                <a:solidFill>
                  <a:srgbClr val="0B0B0F"/>
                </a:solidFill>
                <a:latin typeface="Arial" pitchFamily="34" charset="0"/>
                <a:ea typeface="Arial" pitchFamily="34" charset="-122"/>
                <a:cs typeface="Arial" pitchFamily="34" charset="-120"/>
              </a:rPr>
              <a:t>What we ran</a:t>
            </a:r>
            <a:endParaRPr lang="en-US" sz="1500" dirty="0"/>
          </a:p>
        </p:txBody>
      </p:sp>
      <p:sp>
        <p:nvSpPr>
          <p:cNvPr id="8" name="Text 5"/>
          <p:cNvSpPr/>
          <p:nvPr/>
        </p:nvSpPr>
        <p:spPr>
          <a:xfrm>
            <a:off x="6949440" y="2240280"/>
            <a:ext cx="4663440" cy="137160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6B6B70"/>
                </a:solidFill>
                <a:latin typeface="Arial" pitchFamily="34" charset="0"/>
                <a:ea typeface="Arial" pitchFamily="34" charset="-122"/>
                <a:cs typeface="Arial" pitchFamily="34" charset="-120"/>
              </a:rPr>
              <a:t>df.isna().sum() to scan every column for missing values</a:t>
            </a:r>
            <a:endParaRPr lang="en-US" sz="1250" dirty="0"/>
          </a:p>
          <a:p>
            <a:pPr marL="342900" indent="-342900">
              <a:spcAft>
                <a:spcPts val="700"/>
              </a:spcAft>
              <a:buSzPct val="100000"/>
              <a:buChar char="•"/>
            </a:pPr>
            <a:r>
              <a:rPr lang="en-US" sz="1250" dirty="0">
                <a:solidFill>
                  <a:srgbClr val="6B6B70"/>
                </a:solidFill>
                <a:latin typeface="Arial" pitchFamily="34" charset="0"/>
                <a:ea typeface="Arial" pitchFamily="34" charset="-122"/>
                <a:cs typeface="Arial" pitchFamily="34" charset="-120"/>
              </a:rPr>
              <a:t>df.duplicated() to flag repeated order rows</a:t>
            </a:r>
            <a:endParaRPr lang="en-US" sz="1250" dirty="0"/>
          </a:p>
          <a:p>
            <a:pPr marL="342900" indent="-342900">
              <a:spcAft>
                <a:spcPts val="700"/>
              </a:spcAft>
              <a:buSzPct val="100000"/>
              <a:buChar char="•"/>
            </a:pPr>
            <a:r>
              <a:rPr lang="en-US" sz="1250" dirty="0">
                <a:solidFill>
                  <a:srgbClr val="6B6B70"/>
                </a:solidFill>
                <a:latin typeface="Arial" pitchFamily="34" charset="0"/>
                <a:ea typeface="Arial" pitchFamily="34" charset="-122"/>
                <a:cs typeface="Arial" pitchFamily="34" charset="-120"/>
              </a:rPr>
              <a:t>df.fillna(0) applied selectively after confirming safe defaults</a:t>
            </a:r>
            <a:endParaRPr lang="en-US" sz="1250" dirty="0"/>
          </a:p>
        </p:txBody>
      </p:sp>
      <p:sp>
        <p:nvSpPr>
          <p:cNvPr id="9" name="Shape 6"/>
          <p:cNvSpPr/>
          <p:nvPr/>
        </p:nvSpPr>
        <p:spPr>
          <a:xfrm>
            <a:off x="6949440" y="3749040"/>
            <a:ext cx="4663440" cy="2331720"/>
          </a:xfrm>
          <a:prstGeom prst="roundRect">
            <a:avLst>
              <a:gd name="adj" fmla="val 3137"/>
            </a:avLst>
          </a:prstGeom>
          <a:solidFill>
            <a:srgbClr val="F3F8FF"/>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178040" y="3950208"/>
            <a:ext cx="320040" cy="320040"/>
          </a:xfrm>
          <a:prstGeom prst="rect">
            <a:avLst/>
          </a:prstGeom>
        </p:spPr>
      </p:pic>
      <p:sp>
        <p:nvSpPr>
          <p:cNvPr id="11" name="Text 7"/>
          <p:cNvSpPr/>
          <p:nvPr/>
        </p:nvSpPr>
        <p:spPr>
          <a:xfrm>
            <a:off x="7589520" y="3931920"/>
            <a:ext cx="274320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Finding</a:t>
            </a:r>
            <a:endParaRPr lang="en-US" sz="1400" dirty="0"/>
          </a:p>
        </p:txBody>
      </p:sp>
      <p:sp>
        <p:nvSpPr>
          <p:cNvPr id="12" name="Text 8"/>
          <p:cNvSpPr/>
          <p:nvPr/>
        </p:nvSpPr>
        <p:spPr>
          <a:xfrm>
            <a:off x="7178040" y="4370832"/>
            <a:ext cx="4206240" cy="1600200"/>
          </a:xfrm>
          <a:prstGeom prst="rect">
            <a:avLst/>
          </a:prstGeom>
          <a:noFill/>
          <a:ln/>
        </p:spPr>
        <p:txBody>
          <a:bodyPr wrap="square" lIns="0" tIns="0" rIns="0" bIns="0" rtlCol="0" anchor="ctr"/>
          <a:lstStyle/>
          <a:p>
            <a:pPr marL="0" indent="0">
              <a:lnSpc>
                <a:spcPct val="125000"/>
              </a:lnSpc>
              <a:buNone/>
            </a:pPr>
            <a:r>
              <a:rPr lang="en-US" sz="1250" dirty="0">
                <a:solidFill>
                  <a:srgbClr val="6B6B70"/>
                </a:solidFill>
                <a:latin typeface="Arial" pitchFamily="34" charset="0"/>
                <a:ea typeface="Arial" pitchFamily="34" charset="-122"/>
                <a:cs typeface="Arial" pitchFamily="34" charset="-120"/>
              </a:rPr>
              <a:t>Exactly 11 records were missing a Postal Code — every other one of the 18 columns came back clean. We traced those 11 rows to Burlington, VT orders and filled them with the correct verified postal code instead of dropping real sales data.</a:t>
            </a:r>
            <a:endParaRPr lang="en-US" sz="1250" dirty="0"/>
          </a:p>
        </p:txBody>
      </p:sp>
      <p:sp>
        <p:nvSpPr>
          <p:cNvPr id="13" name="Text 9"/>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STAGE 2 · QUERY VALIDATION</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SQL Workflow &amp; Queries</a:t>
            </a:r>
            <a:endParaRPr lang="en-US" sz="3000" dirty="0"/>
          </a:p>
        </p:txBody>
      </p:sp>
      <p:sp>
        <p:nvSpPr>
          <p:cNvPr id="4" name="Shape 2"/>
          <p:cNvSpPr/>
          <p:nvPr/>
        </p:nvSpPr>
        <p:spPr>
          <a:xfrm>
            <a:off x="475488" y="1709928"/>
            <a:ext cx="4755183" cy="4123944"/>
          </a:xfrm>
          <a:prstGeom prst="roundRect">
            <a:avLst>
              <a:gd name="adj" fmla="val 1109"/>
            </a:avLst>
          </a:prstGeom>
          <a:solidFill>
            <a:srgbClr val="0B0B0F"/>
          </a:solidFill>
          <a:ln w="12700">
            <a:solidFill>
              <a:srgbClr val="1A1A22"/>
            </a:solidFill>
            <a:prstDash val="solid"/>
          </a:ln>
          <a:effectLst>
            <a:outerShdw blurRad="127000" dist="38100" dir="5400000" algn="bl" rotWithShape="0">
              <a:srgbClr val="0B5FCC">
                <a:alpha val="12000"/>
              </a:srgbClr>
            </a:outerShdw>
          </a:effectLst>
        </p:spPr>
        <p:txBody>
          <a:bodyPr/>
          <a:lstStyle/>
          <a:p>
            <a:endParaRPr lang="en-US"/>
          </a:p>
        </p:txBody>
      </p:sp>
      <p:pic>
        <p:nvPicPr>
          <p:cNvPr id="5" name="Image 0" descr="images/sql/sql_nulls.jpg"/>
          <p:cNvPicPr>
            <a:picLocks noChangeAspect="1"/>
          </p:cNvPicPr>
          <p:nvPr/>
        </p:nvPicPr>
        <p:blipFill>
          <a:blip r:embed="rId3"/>
          <a:stretch>
            <a:fillRect/>
          </a:stretch>
        </p:blipFill>
        <p:spPr>
          <a:xfrm>
            <a:off x="548640" y="1783080"/>
            <a:ext cx="4608879" cy="3977640"/>
          </a:xfrm>
          <a:prstGeom prst="rect">
            <a:avLst/>
          </a:prstGeom>
        </p:spPr>
      </p:pic>
      <p:sp>
        <p:nvSpPr>
          <p:cNvPr id="6" name="Text 3"/>
          <p:cNvSpPr/>
          <p:nvPr/>
        </p:nvSpPr>
        <p:spPr>
          <a:xfrm>
            <a:off x="548640" y="5897880"/>
            <a:ext cx="4608879" cy="320040"/>
          </a:xfrm>
          <a:prstGeom prst="rect">
            <a:avLst/>
          </a:prstGeom>
          <a:noFill/>
          <a:ln/>
        </p:spPr>
        <p:txBody>
          <a:bodyPr wrap="square" lIns="0" tIns="0" rIns="0" bIns="0" rtlCol="0" anchor="ctr"/>
          <a:lstStyle/>
          <a:p>
            <a:pPr marL="0" indent="0">
              <a:buNone/>
            </a:pPr>
            <a:r>
              <a:rPr lang="en-US" sz="1100" i="1" dirty="0">
                <a:solidFill>
                  <a:srgbClr val="6B6B70"/>
                </a:solidFill>
                <a:latin typeface="Arial" pitchFamily="34" charset="0"/>
                <a:ea typeface="Arial" pitchFamily="34" charset="-122"/>
                <a:cs typeface="Arial" pitchFamily="34" charset="-120"/>
              </a:rPr>
              <a:t>Actual query: locating &amp; fixing NULL postal codes</a:t>
            </a:r>
            <a:endParaRPr lang="en-US" sz="1100" dirty="0"/>
          </a:p>
        </p:txBody>
      </p:sp>
      <p:sp>
        <p:nvSpPr>
          <p:cNvPr id="7" name="Text 4"/>
          <p:cNvSpPr/>
          <p:nvPr/>
        </p:nvSpPr>
        <p:spPr>
          <a:xfrm>
            <a:off x="6949440" y="1783080"/>
            <a:ext cx="4663440" cy="365760"/>
          </a:xfrm>
          <a:prstGeom prst="rect">
            <a:avLst/>
          </a:prstGeom>
          <a:noFill/>
          <a:ln/>
        </p:spPr>
        <p:txBody>
          <a:bodyPr wrap="square" lIns="0" tIns="0" rIns="0" bIns="0" rtlCol="0" anchor="ctr"/>
          <a:lstStyle/>
          <a:p>
            <a:pPr marL="0" indent="0">
              <a:buNone/>
            </a:pPr>
            <a:r>
              <a:rPr lang="en-US" sz="1500" b="1" dirty="0">
                <a:solidFill>
                  <a:srgbClr val="0B0B0F"/>
                </a:solidFill>
                <a:latin typeface="Arial" pitchFamily="34" charset="0"/>
                <a:ea typeface="Arial" pitchFamily="34" charset="-122"/>
                <a:cs typeface="Arial" pitchFamily="34" charset="-120"/>
              </a:rPr>
              <a:t>Queries we wrote</a:t>
            </a:r>
            <a:endParaRPr lang="en-US" sz="1500" dirty="0"/>
          </a:p>
        </p:txBody>
      </p:sp>
      <p:sp>
        <p:nvSpPr>
          <p:cNvPr id="8" name="Text 5"/>
          <p:cNvSpPr/>
          <p:nvPr/>
        </p:nvSpPr>
        <p:spPr>
          <a:xfrm>
            <a:off x="6949440" y="2194560"/>
            <a:ext cx="4663440" cy="17373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6B6B70"/>
                </a:solidFill>
                <a:latin typeface="Arial" pitchFamily="34" charset="0"/>
                <a:ea typeface="Arial" pitchFamily="34" charset="-122"/>
                <a:cs typeface="Arial" pitchFamily="34" charset="-120"/>
              </a:rPr>
              <a:t>SELECT ... WHERE Customer_ID IS NULL OR postal_code ISNULL</a:t>
            </a:r>
            <a:endParaRPr lang="en-US" sz="1200" dirty="0"/>
          </a:p>
          <a:p>
            <a:pPr marL="342900" indent="-342900">
              <a:spcAft>
                <a:spcPts val="600"/>
              </a:spcAft>
              <a:buSzPct val="100000"/>
              <a:buChar char="•"/>
            </a:pPr>
            <a:r>
              <a:rPr lang="en-US" sz="1200" dirty="0">
                <a:solidFill>
                  <a:srgbClr val="6B6B70"/>
                </a:solidFill>
                <a:latin typeface="Arial" pitchFamily="34" charset="0"/>
                <a:ea typeface="Arial" pitchFamily="34" charset="-122"/>
                <a:cs typeface="Arial" pitchFamily="34" charset="-120"/>
              </a:rPr>
              <a:t>UPDATE ... SET postal_code = '05401' WHERE postal_code IS NULL</a:t>
            </a:r>
            <a:endParaRPr lang="en-US" sz="1200" dirty="0"/>
          </a:p>
          <a:p>
            <a:pPr marL="342900" indent="-342900">
              <a:spcAft>
                <a:spcPts val="600"/>
              </a:spcAft>
              <a:buSzPct val="100000"/>
              <a:buChar char="•"/>
            </a:pPr>
            <a:r>
              <a:rPr lang="en-US" sz="1200" dirty="0">
                <a:solidFill>
                  <a:srgbClr val="6B6B70"/>
                </a:solidFill>
                <a:latin typeface="Arial" pitchFamily="34" charset="0"/>
                <a:ea typeface="Arial" pitchFamily="34" charset="-122"/>
                <a:cs typeface="Arial" pitchFamily="34" charset="-120"/>
              </a:rPr>
              <a:t>DELETE duplicate rows via self-join on Order_ID + Product_ID</a:t>
            </a:r>
            <a:endParaRPr lang="en-US" sz="1200" dirty="0"/>
          </a:p>
          <a:p>
            <a:pPr marL="342900" indent="-342900">
              <a:spcAft>
                <a:spcPts val="600"/>
              </a:spcAft>
              <a:buSzPct val="100000"/>
              <a:buChar char="•"/>
            </a:pPr>
            <a:r>
              <a:rPr lang="en-US" sz="1200" dirty="0">
                <a:solidFill>
                  <a:srgbClr val="6B6B70"/>
                </a:solidFill>
                <a:latin typeface="Arial" pitchFamily="34" charset="0"/>
                <a:ea typeface="Arial" pitchFamily="34" charset="-122"/>
                <a:cs typeface="Arial" pitchFamily="34" charset="-120"/>
              </a:rPr>
              <a:t>SELECT * WHERE Sales &lt;= 0 — data integrity check</a:t>
            </a:r>
            <a:endParaRPr lang="en-US" sz="1200" dirty="0"/>
          </a:p>
        </p:txBody>
      </p:sp>
      <p:sp>
        <p:nvSpPr>
          <p:cNvPr id="9" name="Shape 6"/>
          <p:cNvSpPr/>
          <p:nvPr/>
        </p:nvSpPr>
        <p:spPr>
          <a:xfrm>
            <a:off x="6949440" y="4069080"/>
            <a:ext cx="4663440" cy="2011680"/>
          </a:xfrm>
          <a:prstGeom prst="roundRect">
            <a:avLst>
              <a:gd name="adj" fmla="val 3636"/>
            </a:avLst>
          </a:prstGeom>
          <a:solidFill>
            <a:srgbClr val="F3F8FF"/>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178040" y="4251960"/>
            <a:ext cx="320040" cy="320040"/>
          </a:xfrm>
          <a:prstGeom prst="rect">
            <a:avLst/>
          </a:prstGeom>
        </p:spPr>
      </p:pic>
      <p:sp>
        <p:nvSpPr>
          <p:cNvPr id="11" name="Text 7"/>
          <p:cNvSpPr/>
          <p:nvPr/>
        </p:nvSpPr>
        <p:spPr>
          <a:xfrm>
            <a:off x="7589520" y="4233672"/>
            <a:ext cx="274320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Findings</a:t>
            </a:r>
            <a:endParaRPr lang="en-US" sz="1400" dirty="0"/>
          </a:p>
        </p:txBody>
      </p:sp>
      <p:sp>
        <p:nvSpPr>
          <p:cNvPr id="12" name="Text 8"/>
          <p:cNvSpPr/>
          <p:nvPr/>
        </p:nvSpPr>
        <p:spPr>
          <a:xfrm>
            <a:off x="7178040" y="4663440"/>
            <a:ext cx="4206240" cy="1371600"/>
          </a:xfrm>
          <a:prstGeom prst="rect">
            <a:avLst/>
          </a:prstGeom>
          <a:noFill/>
          <a:ln/>
        </p:spPr>
        <p:txBody>
          <a:bodyPr wrap="square" lIns="0" tIns="0" rIns="0" bIns="0" rtlCol="0" anchor="ctr"/>
          <a:lstStyle/>
          <a:p>
            <a:pPr marL="0" indent="0">
              <a:lnSpc>
                <a:spcPct val="122000"/>
              </a:lnSpc>
              <a:buNone/>
            </a:pPr>
            <a:r>
              <a:rPr lang="en-US" sz="1200" dirty="0">
                <a:solidFill>
                  <a:srgbClr val="6B6B70"/>
                </a:solidFill>
                <a:latin typeface="Arial" pitchFamily="34" charset="0"/>
                <a:ea typeface="Arial" pitchFamily="34" charset="-122"/>
                <a:cs typeface="Arial" pitchFamily="34" charset="-120"/>
              </a:rPr>
              <a:t>SQL cross-confirmed the same 11 null postal codes found in Python. The Sales &lt;= 0 check returned zero rows — no negative or free-value transactions in the entire dataset, meaning revenue figures could be trusted as-is.</a:t>
            </a:r>
            <a:endParaRPr lang="en-US" sz="1200" dirty="0"/>
          </a:p>
        </p:txBody>
      </p:sp>
      <p:sp>
        <p:nvSpPr>
          <p:cNvPr id="13" name="Text 9"/>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WHAT THE DATA TOLD US</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Key Insights</a:t>
            </a:r>
            <a:endParaRPr lang="en-US" sz="3000" dirty="0"/>
          </a:p>
        </p:txBody>
      </p:sp>
      <p:sp>
        <p:nvSpPr>
          <p:cNvPr id="4" name="Shape 2"/>
          <p:cNvSpPr/>
          <p:nvPr/>
        </p:nvSpPr>
        <p:spPr>
          <a:xfrm>
            <a:off x="548640" y="1874520"/>
            <a:ext cx="3246120" cy="1874520"/>
          </a:xfrm>
          <a:prstGeom prst="roundRect">
            <a:avLst>
              <a:gd name="adj" fmla="val 3902"/>
            </a:avLst>
          </a:prstGeom>
          <a:solidFill>
            <a:srgbClr val="F3F8FF"/>
          </a:solidFill>
          <a:ln/>
          <a:effectLst>
            <a:outerShdw blurRad="76200" dist="25400" dir="5400000" algn="bl" rotWithShape="0">
              <a:srgbClr val="0B5FCC">
                <a:alpha val="7000"/>
              </a:srgbClr>
            </a:outerShdw>
          </a:effectLst>
        </p:spPr>
        <p:txBody>
          <a:bodyPr/>
          <a:lstStyle/>
          <a:p>
            <a:endParaRPr lang="en-US"/>
          </a:p>
        </p:txBody>
      </p:sp>
      <p:sp>
        <p:nvSpPr>
          <p:cNvPr id="5" name="Shape 3"/>
          <p:cNvSpPr/>
          <p:nvPr/>
        </p:nvSpPr>
        <p:spPr>
          <a:xfrm>
            <a:off x="749808" y="2075688"/>
            <a:ext cx="457200" cy="457200"/>
          </a:xfrm>
          <a:prstGeom prst="ellipse">
            <a:avLst/>
          </a:prstGeom>
          <a:solidFill>
            <a:srgbClr val="FFFFFF"/>
          </a:solidFill>
          <a:ln w="19050">
            <a:solidFill>
              <a:srgbClr val="108EF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59536" y="2185416"/>
            <a:ext cx="237744" cy="237744"/>
          </a:xfrm>
          <a:prstGeom prst="rect">
            <a:avLst/>
          </a:prstGeom>
        </p:spPr>
      </p:pic>
      <p:sp>
        <p:nvSpPr>
          <p:cNvPr id="7" name="Text 4"/>
          <p:cNvSpPr/>
          <p:nvPr/>
        </p:nvSpPr>
        <p:spPr>
          <a:xfrm>
            <a:off x="749808" y="2651760"/>
            <a:ext cx="288036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Revenue is concentrated</a:t>
            </a:r>
            <a:endParaRPr lang="en-US" sz="1400" dirty="0"/>
          </a:p>
        </p:txBody>
      </p:sp>
      <p:sp>
        <p:nvSpPr>
          <p:cNvPr id="8" name="Text 5"/>
          <p:cNvSpPr/>
          <p:nvPr/>
        </p:nvSpPr>
        <p:spPr>
          <a:xfrm>
            <a:off x="749808" y="3017520"/>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6B6B70"/>
                </a:solidFill>
                <a:latin typeface="Arial" pitchFamily="34" charset="0"/>
                <a:ea typeface="Arial" pitchFamily="34" charset="-122"/>
                <a:cs typeface="Arial" pitchFamily="34" charset="-120"/>
              </a:rPr>
              <a:t>$1.91M in revenue from ~4K orders &amp; 791 customers — West + East regions drive over 60% of sales.</a:t>
            </a:r>
            <a:endParaRPr lang="en-US" sz="1050" dirty="0"/>
          </a:p>
        </p:txBody>
      </p:sp>
      <p:sp>
        <p:nvSpPr>
          <p:cNvPr id="9" name="Shape 6"/>
          <p:cNvSpPr/>
          <p:nvPr/>
        </p:nvSpPr>
        <p:spPr>
          <a:xfrm>
            <a:off x="4050792" y="1874520"/>
            <a:ext cx="3246120" cy="1874520"/>
          </a:xfrm>
          <a:prstGeom prst="roundRect">
            <a:avLst>
              <a:gd name="adj" fmla="val 3902"/>
            </a:avLst>
          </a:prstGeom>
          <a:solidFill>
            <a:srgbClr val="F3F8FF"/>
          </a:solidFill>
          <a:ln/>
          <a:effectLst>
            <a:outerShdw blurRad="76200" dist="25400" dir="5400000" algn="bl" rotWithShape="0">
              <a:srgbClr val="0B5FCC">
                <a:alpha val="7000"/>
              </a:srgbClr>
            </a:outerShdw>
          </a:effectLst>
        </p:spPr>
        <p:txBody>
          <a:bodyPr/>
          <a:lstStyle/>
          <a:p>
            <a:endParaRPr lang="en-US"/>
          </a:p>
        </p:txBody>
      </p:sp>
      <p:sp>
        <p:nvSpPr>
          <p:cNvPr id="10" name="Shape 7"/>
          <p:cNvSpPr/>
          <p:nvPr/>
        </p:nvSpPr>
        <p:spPr>
          <a:xfrm>
            <a:off x="4251960" y="2075688"/>
            <a:ext cx="457200" cy="457200"/>
          </a:xfrm>
          <a:prstGeom prst="ellipse">
            <a:avLst/>
          </a:prstGeom>
          <a:solidFill>
            <a:srgbClr val="FFFFFF"/>
          </a:solidFill>
          <a:ln w="19050">
            <a:solidFill>
              <a:srgbClr val="108EF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361688" y="2185416"/>
            <a:ext cx="237744" cy="237744"/>
          </a:xfrm>
          <a:prstGeom prst="rect">
            <a:avLst/>
          </a:prstGeom>
        </p:spPr>
      </p:pic>
      <p:sp>
        <p:nvSpPr>
          <p:cNvPr id="12" name="Text 8"/>
          <p:cNvSpPr/>
          <p:nvPr/>
        </p:nvSpPr>
        <p:spPr>
          <a:xfrm>
            <a:off x="4251960" y="2651760"/>
            <a:ext cx="288036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Technology leads</a:t>
            </a:r>
            <a:endParaRPr lang="en-US" sz="1400" dirty="0"/>
          </a:p>
        </p:txBody>
      </p:sp>
      <p:sp>
        <p:nvSpPr>
          <p:cNvPr id="13" name="Text 9"/>
          <p:cNvSpPr/>
          <p:nvPr/>
        </p:nvSpPr>
        <p:spPr>
          <a:xfrm>
            <a:off x="4251960" y="3017520"/>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6B6B70"/>
                </a:solidFill>
                <a:latin typeface="Arial" pitchFamily="34" charset="0"/>
                <a:ea typeface="Arial" pitchFamily="34" charset="-122"/>
                <a:cs typeface="Arial" pitchFamily="34" charset="-120"/>
              </a:rPr>
              <a:t>The top-performing category overall, with Chairs, Phones &amp; Binders as standout sub-categories.</a:t>
            </a:r>
            <a:endParaRPr lang="en-US" sz="1050" dirty="0"/>
          </a:p>
        </p:txBody>
      </p:sp>
      <p:sp>
        <p:nvSpPr>
          <p:cNvPr id="14" name="Shape 10"/>
          <p:cNvSpPr/>
          <p:nvPr/>
        </p:nvSpPr>
        <p:spPr>
          <a:xfrm>
            <a:off x="7552944" y="1874520"/>
            <a:ext cx="3246120" cy="1874520"/>
          </a:xfrm>
          <a:prstGeom prst="roundRect">
            <a:avLst>
              <a:gd name="adj" fmla="val 3902"/>
            </a:avLst>
          </a:prstGeom>
          <a:solidFill>
            <a:srgbClr val="F3F8FF"/>
          </a:solidFill>
          <a:ln/>
          <a:effectLst>
            <a:outerShdw blurRad="76200" dist="25400" dir="5400000" algn="bl" rotWithShape="0">
              <a:srgbClr val="0B5FCC">
                <a:alpha val="7000"/>
              </a:srgbClr>
            </a:outerShdw>
          </a:effectLst>
        </p:spPr>
        <p:txBody>
          <a:bodyPr/>
          <a:lstStyle/>
          <a:p>
            <a:endParaRPr lang="en-US"/>
          </a:p>
        </p:txBody>
      </p:sp>
      <p:sp>
        <p:nvSpPr>
          <p:cNvPr id="15" name="Shape 11"/>
          <p:cNvSpPr/>
          <p:nvPr/>
        </p:nvSpPr>
        <p:spPr>
          <a:xfrm>
            <a:off x="7754112" y="2075688"/>
            <a:ext cx="457200" cy="457200"/>
          </a:xfrm>
          <a:prstGeom prst="ellipse">
            <a:avLst/>
          </a:prstGeom>
          <a:solidFill>
            <a:srgbClr val="FFFFFF"/>
          </a:solidFill>
          <a:ln w="19050">
            <a:solidFill>
              <a:srgbClr val="108EF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863840" y="2185416"/>
            <a:ext cx="237744" cy="237744"/>
          </a:xfrm>
          <a:prstGeom prst="rect">
            <a:avLst/>
          </a:prstGeom>
        </p:spPr>
      </p:pic>
      <p:sp>
        <p:nvSpPr>
          <p:cNvPr id="17" name="Text 12"/>
          <p:cNvSpPr/>
          <p:nvPr/>
        </p:nvSpPr>
        <p:spPr>
          <a:xfrm>
            <a:off x="7754112" y="2651760"/>
            <a:ext cx="288036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Shipping is lopsided</a:t>
            </a:r>
            <a:endParaRPr lang="en-US" sz="1400" dirty="0"/>
          </a:p>
        </p:txBody>
      </p:sp>
      <p:sp>
        <p:nvSpPr>
          <p:cNvPr id="18" name="Text 13"/>
          <p:cNvSpPr/>
          <p:nvPr/>
        </p:nvSpPr>
        <p:spPr>
          <a:xfrm>
            <a:off x="7754112" y="3017520"/>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6B6B70"/>
                </a:solidFill>
                <a:latin typeface="Arial" pitchFamily="34" charset="0"/>
                <a:ea typeface="Arial" pitchFamily="34" charset="-122"/>
                <a:cs typeface="Arial" pitchFamily="34" charset="-120"/>
              </a:rPr>
              <a:t>Standard Class dominates order volume; Same Day shipping is barely used — an untapped lever.</a:t>
            </a:r>
            <a:endParaRPr lang="en-US" sz="1050" dirty="0"/>
          </a:p>
        </p:txBody>
      </p:sp>
      <p:sp>
        <p:nvSpPr>
          <p:cNvPr id="19" name="Shape 14"/>
          <p:cNvSpPr/>
          <p:nvPr/>
        </p:nvSpPr>
        <p:spPr>
          <a:xfrm>
            <a:off x="548640" y="4023360"/>
            <a:ext cx="3246120" cy="1874520"/>
          </a:xfrm>
          <a:prstGeom prst="roundRect">
            <a:avLst>
              <a:gd name="adj" fmla="val 3902"/>
            </a:avLst>
          </a:prstGeom>
          <a:solidFill>
            <a:srgbClr val="F3F8FF"/>
          </a:solidFill>
          <a:ln/>
          <a:effectLst>
            <a:outerShdw blurRad="76200" dist="25400" dir="5400000" algn="bl" rotWithShape="0">
              <a:srgbClr val="0B5FCC">
                <a:alpha val="7000"/>
              </a:srgbClr>
            </a:outerShdw>
          </a:effectLst>
        </p:spPr>
        <p:txBody>
          <a:bodyPr/>
          <a:lstStyle/>
          <a:p>
            <a:endParaRPr lang="en-US"/>
          </a:p>
        </p:txBody>
      </p:sp>
      <p:sp>
        <p:nvSpPr>
          <p:cNvPr id="20" name="Shape 15"/>
          <p:cNvSpPr/>
          <p:nvPr/>
        </p:nvSpPr>
        <p:spPr>
          <a:xfrm>
            <a:off x="749808" y="4224528"/>
            <a:ext cx="457200" cy="457200"/>
          </a:xfrm>
          <a:prstGeom prst="ellipse">
            <a:avLst/>
          </a:prstGeom>
          <a:solidFill>
            <a:srgbClr val="FFFFFF"/>
          </a:solidFill>
          <a:ln w="19050">
            <a:solidFill>
              <a:srgbClr val="108EF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59536" y="4334256"/>
            <a:ext cx="237744" cy="237744"/>
          </a:xfrm>
          <a:prstGeom prst="rect">
            <a:avLst/>
          </a:prstGeom>
        </p:spPr>
      </p:pic>
      <p:sp>
        <p:nvSpPr>
          <p:cNvPr id="22" name="Text 16"/>
          <p:cNvSpPr/>
          <p:nvPr/>
        </p:nvSpPr>
        <p:spPr>
          <a:xfrm>
            <a:off x="749808" y="4800600"/>
            <a:ext cx="288036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Sales are seasonal</a:t>
            </a:r>
            <a:endParaRPr lang="en-US" sz="1400" dirty="0"/>
          </a:p>
        </p:txBody>
      </p:sp>
      <p:sp>
        <p:nvSpPr>
          <p:cNvPr id="23" name="Text 17"/>
          <p:cNvSpPr/>
          <p:nvPr/>
        </p:nvSpPr>
        <p:spPr>
          <a:xfrm>
            <a:off x="749808" y="5166360"/>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6B6B70"/>
                </a:solidFill>
                <a:latin typeface="Arial" pitchFamily="34" charset="0"/>
                <a:ea typeface="Arial" pitchFamily="34" charset="-122"/>
                <a:cs typeface="Arial" pitchFamily="34" charset="-120"/>
              </a:rPr>
              <a:t>Dips every Feb &amp; June; sharp peaks in March, September, and the Nov–Dec holiday rush.</a:t>
            </a:r>
            <a:endParaRPr lang="en-US" sz="1050" dirty="0"/>
          </a:p>
        </p:txBody>
      </p:sp>
      <p:sp>
        <p:nvSpPr>
          <p:cNvPr id="24" name="Shape 18"/>
          <p:cNvSpPr/>
          <p:nvPr/>
        </p:nvSpPr>
        <p:spPr>
          <a:xfrm>
            <a:off x="4050792" y="4023360"/>
            <a:ext cx="3246120" cy="1874520"/>
          </a:xfrm>
          <a:prstGeom prst="roundRect">
            <a:avLst>
              <a:gd name="adj" fmla="val 3902"/>
            </a:avLst>
          </a:prstGeom>
          <a:solidFill>
            <a:srgbClr val="F3F8FF"/>
          </a:solidFill>
          <a:ln/>
          <a:effectLst>
            <a:outerShdw blurRad="76200" dist="25400" dir="5400000" algn="bl" rotWithShape="0">
              <a:srgbClr val="0B5FCC">
                <a:alpha val="7000"/>
              </a:srgbClr>
            </a:outerShdw>
          </a:effectLst>
        </p:spPr>
        <p:txBody>
          <a:bodyPr/>
          <a:lstStyle/>
          <a:p>
            <a:endParaRPr lang="en-US"/>
          </a:p>
        </p:txBody>
      </p:sp>
      <p:sp>
        <p:nvSpPr>
          <p:cNvPr id="25" name="Shape 19"/>
          <p:cNvSpPr/>
          <p:nvPr/>
        </p:nvSpPr>
        <p:spPr>
          <a:xfrm>
            <a:off x="4251960" y="4224528"/>
            <a:ext cx="457200" cy="457200"/>
          </a:xfrm>
          <a:prstGeom prst="ellipse">
            <a:avLst/>
          </a:prstGeom>
          <a:solidFill>
            <a:srgbClr val="FFFFFF"/>
          </a:solidFill>
          <a:ln w="19050">
            <a:solidFill>
              <a:srgbClr val="108EFF"/>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361688" y="4334256"/>
            <a:ext cx="237744" cy="237744"/>
          </a:xfrm>
          <a:prstGeom prst="rect">
            <a:avLst/>
          </a:prstGeom>
        </p:spPr>
      </p:pic>
      <p:sp>
        <p:nvSpPr>
          <p:cNvPr id="27" name="Text 20"/>
          <p:cNvSpPr/>
          <p:nvPr/>
        </p:nvSpPr>
        <p:spPr>
          <a:xfrm>
            <a:off x="4251960" y="4800600"/>
            <a:ext cx="288036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Consumers drive growth</a:t>
            </a:r>
            <a:endParaRPr lang="en-US" sz="1400" dirty="0"/>
          </a:p>
        </p:txBody>
      </p:sp>
      <p:sp>
        <p:nvSpPr>
          <p:cNvPr id="28" name="Text 21"/>
          <p:cNvSpPr/>
          <p:nvPr/>
        </p:nvSpPr>
        <p:spPr>
          <a:xfrm>
            <a:off x="4251960" y="5166360"/>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6B6B70"/>
                </a:solidFill>
                <a:latin typeface="Arial" pitchFamily="34" charset="0"/>
                <a:ea typeface="Arial" pitchFamily="34" charset="-122"/>
                <a:cs typeface="Arial" pitchFamily="34" charset="-120"/>
              </a:rPr>
              <a:t>The Consumer segment alone accounts for just over 50% of total sales.</a:t>
            </a:r>
            <a:endParaRPr lang="en-US" sz="1050" dirty="0"/>
          </a:p>
        </p:txBody>
      </p:sp>
      <p:sp>
        <p:nvSpPr>
          <p:cNvPr id="29" name="Text 22"/>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200" dirty="0">
                <a:solidFill>
                  <a:srgbClr val="108EFF"/>
                </a:solidFill>
                <a:latin typeface="Arial" pitchFamily="34" charset="0"/>
                <a:ea typeface="Arial" pitchFamily="34" charset="-122"/>
                <a:cs typeface="Arial" pitchFamily="34" charset="-120"/>
              </a:rPr>
              <a:t>BY THE NUMBERS</a:t>
            </a:r>
            <a:endParaRPr lang="en-US" sz="1200" dirty="0"/>
          </a:p>
        </p:txBody>
      </p:sp>
      <p:sp>
        <p:nvSpPr>
          <p:cNvPr id="3" name="Text 1"/>
          <p:cNvSpPr/>
          <p:nvPr/>
        </p:nvSpPr>
        <p:spPr>
          <a:xfrm>
            <a:off x="548640" y="731520"/>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Regional &amp; Segment Breakdown</a:t>
            </a:r>
            <a:endParaRPr lang="en-US" sz="3000" dirty="0"/>
          </a:p>
        </p:txBody>
      </p:sp>
      <p:sp>
        <p:nvSpPr>
          <p:cNvPr id="4" name="Text 2"/>
          <p:cNvSpPr/>
          <p:nvPr/>
        </p:nvSpPr>
        <p:spPr>
          <a:xfrm>
            <a:off x="548640" y="1691640"/>
            <a:ext cx="548640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Sales Share by Region</a:t>
            </a:r>
            <a:endParaRPr lang="en-US" sz="1500" dirty="0"/>
          </a:p>
        </p:txBody>
      </p:sp>
      <p:sp>
        <p:nvSpPr>
          <p:cNvPr id="5" name="Text 3"/>
          <p:cNvSpPr/>
          <p:nvPr/>
        </p:nvSpPr>
        <p:spPr>
          <a:xfrm>
            <a:off x="548640" y="2194560"/>
            <a:ext cx="1188720" cy="365760"/>
          </a:xfrm>
          <a:prstGeom prst="rect">
            <a:avLst/>
          </a:prstGeom>
          <a:noFill/>
          <a:ln/>
        </p:spPr>
        <p:txBody>
          <a:bodyPr wrap="square" lIns="0" tIns="0" rIns="0" bIns="0" rtlCol="0" anchor="ctr"/>
          <a:lstStyle/>
          <a:p>
            <a:pPr marL="0" indent="0">
              <a:buNone/>
            </a:pPr>
            <a:r>
              <a:rPr lang="en-US" sz="1200" dirty="0">
                <a:solidFill>
                  <a:srgbClr val="CCD6E0"/>
                </a:solidFill>
                <a:latin typeface="Arial" pitchFamily="34" charset="0"/>
                <a:ea typeface="Arial" pitchFamily="34" charset="-122"/>
                <a:cs typeface="Arial" pitchFamily="34" charset="-120"/>
              </a:rPr>
              <a:t>West</a:t>
            </a:r>
            <a:endParaRPr lang="en-US" sz="1200" dirty="0"/>
          </a:p>
        </p:txBody>
      </p:sp>
      <p:sp>
        <p:nvSpPr>
          <p:cNvPr id="6" name="Shape 4"/>
          <p:cNvSpPr/>
          <p:nvPr/>
        </p:nvSpPr>
        <p:spPr>
          <a:xfrm>
            <a:off x="1828800" y="2240280"/>
            <a:ext cx="3657600" cy="274320"/>
          </a:xfrm>
          <a:prstGeom prst="rect">
            <a:avLst/>
          </a:prstGeom>
          <a:solidFill>
            <a:srgbClr val="1C2530"/>
          </a:solidFill>
          <a:ln/>
        </p:spPr>
        <p:txBody>
          <a:bodyPr/>
          <a:lstStyle/>
          <a:p>
            <a:endParaRPr lang="en-US"/>
          </a:p>
        </p:txBody>
      </p:sp>
      <p:sp>
        <p:nvSpPr>
          <p:cNvPr id="7" name="Shape 5"/>
          <p:cNvSpPr/>
          <p:nvPr/>
        </p:nvSpPr>
        <p:spPr>
          <a:xfrm>
            <a:off x="1828800" y="2240280"/>
            <a:ext cx="3600450" cy="274320"/>
          </a:xfrm>
          <a:prstGeom prst="rect">
            <a:avLst/>
          </a:prstGeom>
          <a:solidFill>
            <a:srgbClr val="108EFF"/>
          </a:solidFill>
          <a:ln/>
        </p:spPr>
        <p:txBody>
          <a:bodyPr/>
          <a:lstStyle/>
          <a:p>
            <a:endParaRPr lang="en-US"/>
          </a:p>
        </p:txBody>
      </p:sp>
      <p:sp>
        <p:nvSpPr>
          <p:cNvPr id="8" name="Text 6"/>
          <p:cNvSpPr/>
          <p:nvPr/>
        </p:nvSpPr>
        <p:spPr>
          <a:xfrm>
            <a:off x="5623560" y="2194560"/>
            <a:ext cx="2011680" cy="365760"/>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31.5%  ·  $600.5K</a:t>
            </a:r>
            <a:endParaRPr lang="en-US" sz="1150" dirty="0"/>
          </a:p>
        </p:txBody>
      </p:sp>
      <p:sp>
        <p:nvSpPr>
          <p:cNvPr id="9" name="Text 7"/>
          <p:cNvSpPr/>
          <p:nvPr/>
        </p:nvSpPr>
        <p:spPr>
          <a:xfrm>
            <a:off x="548640" y="2761488"/>
            <a:ext cx="1188720" cy="365760"/>
          </a:xfrm>
          <a:prstGeom prst="rect">
            <a:avLst/>
          </a:prstGeom>
          <a:noFill/>
          <a:ln/>
        </p:spPr>
        <p:txBody>
          <a:bodyPr wrap="square" lIns="0" tIns="0" rIns="0" bIns="0" rtlCol="0" anchor="ctr"/>
          <a:lstStyle/>
          <a:p>
            <a:pPr marL="0" indent="0">
              <a:buNone/>
            </a:pPr>
            <a:r>
              <a:rPr lang="en-US" sz="1200" dirty="0">
                <a:solidFill>
                  <a:srgbClr val="CCD6E0"/>
                </a:solidFill>
                <a:latin typeface="Arial" pitchFamily="34" charset="0"/>
                <a:ea typeface="Arial" pitchFamily="34" charset="-122"/>
                <a:cs typeface="Arial" pitchFamily="34" charset="-120"/>
              </a:rPr>
              <a:t>East</a:t>
            </a:r>
            <a:endParaRPr lang="en-US" sz="1200" dirty="0"/>
          </a:p>
        </p:txBody>
      </p:sp>
      <p:sp>
        <p:nvSpPr>
          <p:cNvPr id="10" name="Shape 8"/>
          <p:cNvSpPr/>
          <p:nvPr/>
        </p:nvSpPr>
        <p:spPr>
          <a:xfrm>
            <a:off x="1828800" y="2807208"/>
            <a:ext cx="3657600" cy="274320"/>
          </a:xfrm>
          <a:prstGeom prst="rect">
            <a:avLst/>
          </a:prstGeom>
          <a:solidFill>
            <a:srgbClr val="1C2530"/>
          </a:solidFill>
          <a:ln/>
        </p:spPr>
        <p:txBody>
          <a:bodyPr/>
          <a:lstStyle/>
          <a:p>
            <a:endParaRPr lang="en-US"/>
          </a:p>
        </p:txBody>
      </p:sp>
      <p:sp>
        <p:nvSpPr>
          <p:cNvPr id="11" name="Shape 9"/>
          <p:cNvSpPr/>
          <p:nvPr/>
        </p:nvSpPr>
        <p:spPr>
          <a:xfrm>
            <a:off x="1828800" y="2807208"/>
            <a:ext cx="3371850" cy="274320"/>
          </a:xfrm>
          <a:prstGeom prst="rect">
            <a:avLst/>
          </a:prstGeom>
          <a:solidFill>
            <a:srgbClr val="108EFF"/>
          </a:solidFill>
          <a:ln/>
        </p:spPr>
        <p:txBody>
          <a:bodyPr/>
          <a:lstStyle/>
          <a:p>
            <a:endParaRPr lang="en-US"/>
          </a:p>
        </p:txBody>
      </p:sp>
      <p:sp>
        <p:nvSpPr>
          <p:cNvPr id="12" name="Text 10"/>
          <p:cNvSpPr/>
          <p:nvPr/>
        </p:nvSpPr>
        <p:spPr>
          <a:xfrm>
            <a:off x="5623560" y="2761488"/>
            <a:ext cx="2011680" cy="365760"/>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29.5%  ·  $562.2K</a:t>
            </a:r>
            <a:endParaRPr lang="en-US" sz="1150" dirty="0"/>
          </a:p>
        </p:txBody>
      </p:sp>
      <p:sp>
        <p:nvSpPr>
          <p:cNvPr id="13" name="Text 11"/>
          <p:cNvSpPr/>
          <p:nvPr/>
        </p:nvSpPr>
        <p:spPr>
          <a:xfrm>
            <a:off x="548640" y="3328416"/>
            <a:ext cx="1188720" cy="365760"/>
          </a:xfrm>
          <a:prstGeom prst="rect">
            <a:avLst/>
          </a:prstGeom>
          <a:noFill/>
          <a:ln/>
        </p:spPr>
        <p:txBody>
          <a:bodyPr wrap="square" lIns="0" tIns="0" rIns="0" bIns="0" rtlCol="0" anchor="ctr"/>
          <a:lstStyle/>
          <a:p>
            <a:pPr marL="0" indent="0">
              <a:buNone/>
            </a:pPr>
            <a:r>
              <a:rPr lang="en-US" sz="1200" dirty="0">
                <a:solidFill>
                  <a:srgbClr val="CCD6E0"/>
                </a:solidFill>
                <a:latin typeface="Arial" pitchFamily="34" charset="0"/>
                <a:ea typeface="Arial" pitchFamily="34" charset="-122"/>
                <a:cs typeface="Arial" pitchFamily="34" charset="-120"/>
              </a:rPr>
              <a:t>Central</a:t>
            </a:r>
            <a:endParaRPr lang="en-US" sz="1200" dirty="0"/>
          </a:p>
        </p:txBody>
      </p:sp>
      <p:sp>
        <p:nvSpPr>
          <p:cNvPr id="14" name="Shape 12"/>
          <p:cNvSpPr/>
          <p:nvPr/>
        </p:nvSpPr>
        <p:spPr>
          <a:xfrm>
            <a:off x="1828800" y="3374136"/>
            <a:ext cx="3657600" cy="274320"/>
          </a:xfrm>
          <a:prstGeom prst="rect">
            <a:avLst/>
          </a:prstGeom>
          <a:solidFill>
            <a:srgbClr val="1C2530"/>
          </a:solidFill>
          <a:ln/>
        </p:spPr>
        <p:txBody>
          <a:bodyPr/>
          <a:lstStyle/>
          <a:p>
            <a:endParaRPr lang="en-US"/>
          </a:p>
        </p:txBody>
      </p:sp>
      <p:sp>
        <p:nvSpPr>
          <p:cNvPr id="15" name="Shape 13"/>
          <p:cNvSpPr/>
          <p:nvPr/>
        </p:nvSpPr>
        <p:spPr>
          <a:xfrm>
            <a:off x="1828800" y="3374136"/>
            <a:ext cx="2468880" cy="274320"/>
          </a:xfrm>
          <a:prstGeom prst="rect">
            <a:avLst/>
          </a:prstGeom>
          <a:solidFill>
            <a:srgbClr val="108EFF"/>
          </a:solidFill>
          <a:ln/>
        </p:spPr>
        <p:txBody>
          <a:bodyPr/>
          <a:lstStyle/>
          <a:p>
            <a:endParaRPr lang="en-US"/>
          </a:p>
        </p:txBody>
      </p:sp>
      <p:sp>
        <p:nvSpPr>
          <p:cNvPr id="16" name="Text 14"/>
          <p:cNvSpPr/>
          <p:nvPr/>
        </p:nvSpPr>
        <p:spPr>
          <a:xfrm>
            <a:off x="5623560" y="3328416"/>
            <a:ext cx="2011680" cy="365760"/>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21.6%  ·  $410.9K</a:t>
            </a:r>
            <a:endParaRPr lang="en-US" sz="1150" dirty="0"/>
          </a:p>
        </p:txBody>
      </p:sp>
      <p:sp>
        <p:nvSpPr>
          <p:cNvPr id="17" name="Text 15"/>
          <p:cNvSpPr/>
          <p:nvPr/>
        </p:nvSpPr>
        <p:spPr>
          <a:xfrm>
            <a:off x="548640" y="3895344"/>
            <a:ext cx="1188720" cy="365760"/>
          </a:xfrm>
          <a:prstGeom prst="rect">
            <a:avLst/>
          </a:prstGeom>
          <a:noFill/>
          <a:ln/>
        </p:spPr>
        <p:txBody>
          <a:bodyPr wrap="square" lIns="0" tIns="0" rIns="0" bIns="0" rtlCol="0" anchor="ctr"/>
          <a:lstStyle/>
          <a:p>
            <a:pPr marL="0" indent="0">
              <a:buNone/>
            </a:pPr>
            <a:r>
              <a:rPr lang="en-US" sz="1200" dirty="0">
                <a:solidFill>
                  <a:srgbClr val="CCD6E0"/>
                </a:solidFill>
                <a:latin typeface="Arial" pitchFamily="34" charset="0"/>
                <a:ea typeface="Arial" pitchFamily="34" charset="-122"/>
                <a:cs typeface="Arial" pitchFamily="34" charset="-120"/>
              </a:rPr>
              <a:t>South</a:t>
            </a:r>
            <a:endParaRPr lang="en-US" sz="1200" dirty="0"/>
          </a:p>
        </p:txBody>
      </p:sp>
      <p:sp>
        <p:nvSpPr>
          <p:cNvPr id="18" name="Shape 16"/>
          <p:cNvSpPr/>
          <p:nvPr/>
        </p:nvSpPr>
        <p:spPr>
          <a:xfrm>
            <a:off x="1828800" y="3941064"/>
            <a:ext cx="3657600" cy="274320"/>
          </a:xfrm>
          <a:prstGeom prst="rect">
            <a:avLst/>
          </a:prstGeom>
          <a:solidFill>
            <a:srgbClr val="1C2530"/>
          </a:solidFill>
          <a:ln/>
        </p:spPr>
        <p:txBody>
          <a:bodyPr/>
          <a:lstStyle/>
          <a:p>
            <a:endParaRPr lang="en-US"/>
          </a:p>
        </p:txBody>
      </p:sp>
      <p:sp>
        <p:nvSpPr>
          <p:cNvPr id="19" name="Shape 17"/>
          <p:cNvSpPr/>
          <p:nvPr/>
        </p:nvSpPr>
        <p:spPr>
          <a:xfrm>
            <a:off x="1828800" y="3941064"/>
            <a:ext cx="2000250" cy="274320"/>
          </a:xfrm>
          <a:prstGeom prst="rect">
            <a:avLst/>
          </a:prstGeom>
          <a:solidFill>
            <a:srgbClr val="108EFF"/>
          </a:solidFill>
          <a:ln/>
        </p:spPr>
        <p:txBody>
          <a:bodyPr/>
          <a:lstStyle/>
          <a:p>
            <a:endParaRPr lang="en-US"/>
          </a:p>
        </p:txBody>
      </p:sp>
      <p:sp>
        <p:nvSpPr>
          <p:cNvPr id="20" name="Text 18"/>
          <p:cNvSpPr/>
          <p:nvPr/>
        </p:nvSpPr>
        <p:spPr>
          <a:xfrm>
            <a:off x="5623560" y="3895344"/>
            <a:ext cx="2011680" cy="365760"/>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17.5%  ·  $333.1K</a:t>
            </a:r>
            <a:endParaRPr lang="en-US" sz="1150" dirty="0"/>
          </a:p>
        </p:txBody>
      </p:sp>
      <p:sp>
        <p:nvSpPr>
          <p:cNvPr id="21" name="Text 19"/>
          <p:cNvSpPr/>
          <p:nvPr/>
        </p:nvSpPr>
        <p:spPr>
          <a:xfrm>
            <a:off x="6949440" y="1691640"/>
            <a:ext cx="457200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Sales Share by Segment</a:t>
            </a:r>
            <a:endParaRPr lang="en-US" sz="1500" dirty="0"/>
          </a:p>
        </p:txBody>
      </p:sp>
      <p:sp>
        <p:nvSpPr>
          <p:cNvPr id="22" name="Shape 20"/>
          <p:cNvSpPr/>
          <p:nvPr/>
        </p:nvSpPr>
        <p:spPr>
          <a:xfrm>
            <a:off x="6949440" y="2194560"/>
            <a:ext cx="1417320" cy="1737360"/>
          </a:xfrm>
          <a:prstGeom prst="roundRect">
            <a:avLst>
              <a:gd name="adj" fmla="val 5161"/>
            </a:avLst>
          </a:prstGeom>
          <a:solidFill>
            <a:srgbClr val="12181F"/>
          </a:solidFill>
          <a:ln/>
        </p:spPr>
        <p:txBody>
          <a:bodyPr/>
          <a:lstStyle/>
          <a:p>
            <a:endParaRPr lang="en-US"/>
          </a:p>
        </p:txBody>
      </p:sp>
      <p:sp>
        <p:nvSpPr>
          <p:cNvPr id="23" name="Text 21"/>
          <p:cNvSpPr/>
          <p:nvPr/>
        </p:nvSpPr>
        <p:spPr>
          <a:xfrm>
            <a:off x="6995160" y="2331720"/>
            <a:ext cx="1325880" cy="548640"/>
          </a:xfrm>
          <a:prstGeom prst="rect">
            <a:avLst/>
          </a:prstGeom>
          <a:noFill/>
          <a:ln/>
        </p:spPr>
        <p:txBody>
          <a:bodyPr wrap="square" lIns="0" tIns="0" rIns="0" bIns="0" rtlCol="0" anchor="ctr"/>
          <a:lstStyle/>
          <a:p>
            <a:pPr marL="0" indent="0" algn="ctr">
              <a:buNone/>
            </a:pPr>
            <a:r>
              <a:rPr lang="en-US" sz="2200" b="1" dirty="0">
                <a:solidFill>
                  <a:srgbClr val="108EFF"/>
                </a:solidFill>
                <a:latin typeface="Arial" pitchFamily="34" charset="0"/>
                <a:ea typeface="Arial" pitchFamily="34" charset="-122"/>
                <a:cs typeface="Arial" pitchFamily="34" charset="-120"/>
              </a:rPr>
              <a:t>50.5%</a:t>
            </a:r>
            <a:endParaRPr lang="en-US" sz="2200" dirty="0"/>
          </a:p>
        </p:txBody>
      </p:sp>
      <p:sp>
        <p:nvSpPr>
          <p:cNvPr id="24" name="Text 22"/>
          <p:cNvSpPr/>
          <p:nvPr/>
        </p:nvSpPr>
        <p:spPr>
          <a:xfrm>
            <a:off x="6995160" y="2880360"/>
            <a:ext cx="1325880" cy="320040"/>
          </a:xfrm>
          <a:prstGeom prst="rect">
            <a:avLst/>
          </a:prstGeom>
          <a:noFill/>
          <a:ln/>
        </p:spPr>
        <p:txBody>
          <a:bodyPr wrap="square" lIns="0" tIns="0" rIns="0" bIns="0" rtlCol="0" anchor="ctr"/>
          <a:lstStyle/>
          <a:p>
            <a:pPr marL="0" indent="0" algn="ctr">
              <a:buNone/>
            </a:pPr>
            <a:r>
              <a:rPr lang="en-US" sz="1100" dirty="0">
                <a:solidFill>
                  <a:srgbClr val="CCD6E0"/>
                </a:solidFill>
                <a:latin typeface="Arial" pitchFamily="34" charset="0"/>
                <a:ea typeface="Arial" pitchFamily="34" charset="-122"/>
                <a:cs typeface="Arial" pitchFamily="34" charset="-120"/>
              </a:rPr>
              <a:t>$963.6K</a:t>
            </a:r>
            <a:endParaRPr lang="en-US" sz="1100" dirty="0"/>
          </a:p>
        </p:txBody>
      </p:sp>
      <p:sp>
        <p:nvSpPr>
          <p:cNvPr id="25" name="Text 23"/>
          <p:cNvSpPr/>
          <p:nvPr/>
        </p:nvSpPr>
        <p:spPr>
          <a:xfrm>
            <a:off x="6995160" y="342900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Consumer</a:t>
            </a:r>
            <a:endParaRPr lang="en-US" sz="1150" dirty="0"/>
          </a:p>
        </p:txBody>
      </p:sp>
      <p:sp>
        <p:nvSpPr>
          <p:cNvPr id="26" name="Shape 24"/>
          <p:cNvSpPr/>
          <p:nvPr/>
        </p:nvSpPr>
        <p:spPr>
          <a:xfrm>
            <a:off x="8522208" y="2194560"/>
            <a:ext cx="1417320" cy="1737360"/>
          </a:xfrm>
          <a:prstGeom prst="roundRect">
            <a:avLst>
              <a:gd name="adj" fmla="val 5161"/>
            </a:avLst>
          </a:prstGeom>
          <a:solidFill>
            <a:srgbClr val="12181F"/>
          </a:solidFill>
          <a:ln/>
        </p:spPr>
        <p:txBody>
          <a:bodyPr/>
          <a:lstStyle/>
          <a:p>
            <a:endParaRPr lang="en-US"/>
          </a:p>
        </p:txBody>
      </p:sp>
      <p:sp>
        <p:nvSpPr>
          <p:cNvPr id="27" name="Text 25"/>
          <p:cNvSpPr/>
          <p:nvPr/>
        </p:nvSpPr>
        <p:spPr>
          <a:xfrm>
            <a:off x="8567928" y="2331720"/>
            <a:ext cx="1325880" cy="548640"/>
          </a:xfrm>
          <a:prstGeom prst="rect">
            <a:avLst/>
          </a:prstGeom>
          <a:noFill/>
          <a:ln/>
        </p:spPr>
        <p:txBody>
          <a:bodyPr wrap="square" lIns="0" tIns="0" rIns="0" bIns="0" rtlCol="0" anchor="ctr"/>
          <a:lstStyle/>
          <a:p>
            <a:pPr marL="0" indent="0" algn="ctr">
              <a:buNone/>
            </a:pPr>
            <a:r>
              <a:rPr lang="en-US" sz="2200" b="1" dirty="0">
                <a:solidFill>
                  <a:srgbClr val="108EFF"/>
                </a:solidFill>
                <a:latin typeface="Arial" pitchFamily="34" charset="0"/>
                <a:ea typeface="Arial" pitchFamily="34" charset="-122"/>
                <a:cs typeface="Arial" pitchFamily="34" charset="-120"/>
              </a:rPr>
              <a:t>30.6%</a:t>
            </a:r>
            <a:endParaRPr lang="en-US" sz="2200" dirty="0"/>
          </a:p>
        </p:txBody>
      </p:sp>
      <p:sp>
        <p:nvSpPr>
          <p:cNvPr id="28" name="Text 26"/>
          <p:cNvSpPr/>
          <p:nvPr/>
        </p:nvSpPr>
        <p:spPr>
          <a:xfrm>
            <a:off x="8567928" y="2880360"/>
            <a:ext cx="1325880" cy="320040"/>
          </a:xfrm>
          <a:prstGeom prst="rect">
            <a:avLst/>
          </a:prstGeom>
          <a:noFill/>
          <a:ln/>
        </p:spPr>
        <p:txBody>
          <a:bodyPr wrap="square" lIns="0" tIns="0" rIns="0" bIns="0" rtlCol="0" anchor="ctr"/>
          <a:lstStyle/>
          <a:p>
            <a:pPr marL="0" indent="0" algn="ctr">
              <a:buNone/>
            </a:pPr>
            <a:r>
              <a:rPr lang="en-US" sz="1100" dirty="0">
                <a:solidFill>
                  <a:srgbClr val="CCD6E0"/>
                </a:solidFill>
                <a:latin typeface="Arial" pitchFamily="34" charset="0"/>
                <a:ea typeface="Arial" pitchFamily="34" charset="-122"/>
                <a:cs typeface="Arial" pitchFamily="34" charset="-120"/>
              </a:rPr>
              <a:t>$583.6K</a:t>
            </a:r>
            <a:endParaRPr lang="en-US" sz="1100" dirty="0"/>
          </a:p>
        </p:txBody>
      </p:sp>
      <p:sp>
        <p:nvSpPr>
          <p:cNvPr id="29" name="Text 27"/>
          <p:cNvSpPr/>
          <p:nvPr/>
        </p:nvSpPr>
        <p:spPr>
          <a:xfrm>
            <a:off x="8567928" y="342900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Corporate</a:t>
            </a:r>
            <a:endParaRPr lang="en-US" sz="1150" dirty="0"/>
          </a:p>
        </p:txBody>
      </p:sp>
      <p:sp>
        <p:nvSpPr>
          <p:cNvPr id="30" name="Shape 28"/>
          <p:cNvSpPr/>
          <p:nvPr/>
        </p:nvSpPr>
        <p:spPr>
          <a:xfrm>
            <a:off x="10094976" y="2194560"/>
            <a:ext cx="1417320" cy="1737360"/>
          </a:xfrm>
          <a:prstGeom prst="roundRect">
            <a:avLst>
              <a:gd name="adj" fmla="val 5161"/>
            </a:avLst>
          </a:prstGeom>
          <a:solidFill>
            <a:srgbClr val="12181F"/>
          </a:solidFill>
          <a:ln/>
        </p:spPr>
        <p:txBody>
          <a:bodyPr/>
          <a:lstStyle/>
          <a:p>
            <a:endParaRPr lang="en-US"/>
          </a:p>
        </p:txBody>
      </p:sp>
      <p:sp>
        <p:nvSpPr>
          <p:cNvPr id="31" name="Text 29"/>
          <p:cNvSpPr/>
          <p:nvPr/>
        </p:nvSpPr>
        <p:spPr>
          <a:xfrm>
            <a:off x="10140696" y="2331720"/>
            <a:ext cx="1325880" cy="548640"/>
          </a:xfrm>
          <a:prstGeom prst="rect">
            <a:avLst/>
          </a:prstGeom>
          <a:noFill/>
          <a:ln/>
        </p:spPr>
        <p:txBody>
          <a:bodyPr wrap="square" lIns="0" tIns="0" rIns="0" bIns="0" rtlCol="0" anchor="ctr"/>
          <a:lstStyle/>
          <a:p>
            <a:pPr marL="0" indent="0" algn="ctr">
              <a:buNone/>
            </a:pPr>
            <a:r>
              <a:rPr lang="en-US" sz="2200" b="1" dirty="0">
                <a:solidFill>
                  <a:srgbClr val="108EFF"/>
                </a:solidFill>
                <a:latin typeface="Arial" pitchFamily="34" charset="0"/>
                <a:ea typeface="Arial" pitchFamily="34" charset="-122"/>
                <a:cs typeface="Arial" pitchFamily="34" charset="-120"/>
              </a:rPr>
              <a:t>18.9%</a:t>
            </a:r>
            <a:endParaRPr lang="en-US" sz="2200" dirty="0"/>
          </a:p>
        </p:txBody>
      </p:sp>
      <p:sp>
        <p:nvSpPr>
          <p:cNvPr id="32" name="Text 30"/>
          <p:cNvSpPr/>
          <p:nvPr/>
        </p:nvSpPr>
        <p:spPr>
          <a:xfrm>
            <a:off x="10140696" y="2880360"/>
            <a:ext cx="1325880" cy="320040"/>
          </a:xfrm>
          <a:prstGeom prst="rect">
            <a:avLst/>
          </a:prstGeom>
          <a:noFill/>
          <a:ln/>
        </p:spPr>
        <p:txBody>
          <a:bodyPr wrap="square" lIns="0" tIns="0" rIns="0" bIns="0" rtlCol="0" anchor="ctr"/>
          <a:lstStyle/>
          <a:p>
            <a:pPr marL="0" indent="0" algn="ctr">
              <a:buNone/>
            </a:pPr>
            <a:r>
              <a:rPr lang="en-US" sz="1100" dirty="0">
                <a:solidFill>
                  <a:srgbClr val="CCD6E0"/>
                </a:solidFill>
                <a:latin typeface="Arial" pitchFamily="34" charset="0"/>
                <a:ea typeface="Arial" pitchFamily="34" charset="-122"/>
                <a:cs typeface="Arial" pitchFamily="34" charset="-120"/>
              </a:rPr>
              <a:t>$359.7K</a:t>
            </a:r>
            <a:endParaRPr lang="en-US" sz="1100" dirty="0"/>
          </a:p>
        </p:txBody>
      </p:sp>
      <p:sp>
        <p:nvSpPr>
          <p:cNvPr id="33" name="Text 31"/>
          <p:cNvSpPr/>
          <p:nvPr/>
        </p:nvSpPr>
        <p:spPr>
          <a:xfrm>
            <a:off x="10140696" y="342900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Home Office</a:t>
            </a:r>
            <a:endParaRPr lang="en-US" sz="1150" dirty="0"/>
          </a:p>
        </p:txBody>
      </p:sp>
      <p:sp>
        <p:nvSpPr>
          <p:cNvPr id="34" name="Text 32"/>
          <p:cNvSpPr/>
          <p:nvPr/>
        </p:nvSpPr>
        <p:spPr>
          <a:xfrm>
            <a:off x="548640" y="4434840"/>
            <a:ext cx="11064240" cy="640080"/>
          </a:xfrm>
          <a:prstGeom prst="rect">
            <a:avLst/>
          </a:prstGeom>
          <a:noFill/>
          <a:ln/>
        </p:spPr>
        <p:txBody>
          <a:bodyPr wrap="square" lIns="0" tIns="0" rIns="0" bIns="0" rtlCol="0" anchor="ctr"/>
          <a:lstStyle/>
          <a:p>
            <a:pPr marL="0" indent="0">
              <a:buNone/>
            </a:pPr>
            <a:r>
              <a:rPr lang="en-US" sz="1350" i="1" dirty="0">
                <a:solidFill>
                  <a:srgbClr val="AAB6C2"/>
                </a:solidFill>
                <a:latin typeface="Arial" pitchFamily="34" charset="0"/>
                <a:ea typeface="Arial" pitchFamily="34" charset="-122"/>
                <a:cs typeface="Arial" pitchFamily="34" charset="-120"/>
              </a:rPr>
              <a:t>Standard Class ships 3× more orders than every other ship mode combined — while Same Day remains under 8% of volume.</a:t>
            </a:r>
            <a:endParaRPr lang="en-US" sz="1350" dirty="0"/>
          </a:p>
        </p:txBody>
      </p:sp>
      <p:sp>
        <p:nvSpPr>
          <p:cNvPr id="35" name="Text 33"/>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9AA5B1"/>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THE DELIVERABLE</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Data Visualization — Power BI Dashboard</a:t>
            </a:r>
            <a:endParaRPr lang="en-US" sz="3000" dirty="0"/>
          </a:p>
        </p:txBody>
      </p:sp>
      <p:sp>
        <p:nvSpPr>
          <p:cNvPr id="4" name="Text 2"/>
          <p:cNvSpPr/>
          <p:nvPr/>
        </p:nvSpPr>
        <p:spPr>
          <a:xfrm>
            <a:off x="548640" y="1417320"/>
            <a:ext cx="10789920" cy="411480"/>
          </a:xfrm>
          <a:prstGeom prst="rect">
            <a:avLst/>
          </a:prstGeom>
          <a:noFill/>
          <a:ln/>
        </p:spPr>
        <p:txBody>
          <a:bodyPr wrap="square" lIns="0" tIns="0" rIns="0" bIns="0" rtlCol="0" anchor="ctr"/>
          <a:lstStyle/>
          <a:p>
            <a:pPr marL="0" indent="0">
              <a:buNone/>
            </a:pPr>
            <a:r>
              <a:rPr lang="en-US" sz="1400" dirty="0">
                <a:solidFill>
                  <a:srgbClr val="6B6B70"/>
                </a:solidFill>
                <a:latin typeface="Arial" pitchFamily="34" charset="0"/>
                <a:ea typeface="Arial" pitchFamily="34" charset="-122"/>
                <a:cs typeface="Arial" pitchFamily="34" charset="-120"/>
              </a:rPr>
              <a:t>A 5-page interactive dashboard turning every insight above into something the client can explore themselves.</a:t>
            </a:r>
            <a:endParaRPr lang="en-US" sz="1400" dirty="0"/>
          </a:p>
        </p:txBody>
      </p:sp>
      <p:sp>
        <p:nvSpPr>
          <p:cNvPr id="5" name="Shape 3"/>
          <p:cNvSpPr/>
          <p:nvPr/>
        </p:nvSpPr>
        <p:spPr>
          <a:xfrm>
            <a:off x="548640" y="1920240"/>
            <a:ext cx="7406640" cy="4434840"/>
          </a:xfrm>
          <a:prstGeom prst="roundRect">
            <a:avLst>
              <a:gd name="adj" fmla="val 1031"/>
            </a:avLst>
          </a:prstGeom>
          <a:solidFill>
            <a:srgbClr val="FFFFFF"/>
          </a:solidFill>
          <a:ln w="12700">
            <a:solidFill>
              <a:srgbClr val="D8E8FF"/>
            </a:solidFill>
            <a:prstDash val="solid"/>
          </a:ln>
          <a:effectLst>
            <a:outerShdw blurRad="127000" dist="38100" dir="5400000" algn="bl" rotWithShape="0">
              <a:srgbClr val="0B5FCC">
                <a:alpha val="12000"/>
              </a:srgbClr>
            </a:outerShdw>
          </a:effectLst>
        </p:spPr>
        <p:txBody>
          <a:bodyPr/>
          <a:lstStyle/>
          <a:p>
            <a:endParaRPr lang="en-US"/>
          </a:p>
        </p:txBody>
      </p:sp>
      <p:pic>
        <p:nvPicPr>
          <p:cNvPr id="6" name="Image 0" descr="images/dash4.jpeg"/>
          <p:cNvPicPr>
            <a:picLocks noChangeAspect="1"/>
          </p:cNvPicPr>
          <p:nvPr/>
        </p:nvPicPr>
        <p:blipFill>
          <a:blip r:embed="rId3"/>
          <a:srcRect/>
          <a:stretch/>
        </p:blipFill>
        <p:spPr>
          <a:xfrm>
            <a:off x="640080" y="2011680"/>
            <a:ext cx="7223760" cy="4251960"/>
          </a:xfrm>
          <a:prstGeom prst="rect">
            <a:avLst/>
          </a:prstGeom>
        </p:spPr>
      </p:pic>
      <p:sp>
        <p:nvSpPr>
          <p:cNvPr id="7" name="Text 4"/>
          <p:cNvSpPr/>
          <p:nvPr/>
        </p:nvSpPr>
        <p:spPr>
          <a:xfrm>
            <a:off x="8183880" y="2011680"/>
            <a:ext cx="3383280" cy="365760"/>
          </a:xfrm>
          <a:prstGeom prst="rect">
            <a:avLst/>
          </a:prstGeom>
          <a:noFill/>
          <a:ln/>
        </p:spPr>
        <p:txBody>
          <a:bodyPr wrap="square" lIns="0" tIns="0" rIns="0" bIns="0" rtlCol="0" anchor="ctr"/>
          <a:lstStyle/>
          <a:p>
            <a:pPr marL="0" indent="0">
              <a:buNone/>
            </a:pPr>
            <a:r>
              <a:rPr lang="en-US" sz="1400" b="1" dirty="0">
                <a:solidFill>
                  <a:srgbClr val="0B0B0F"/>
                </a:solidFill>
                <a:latin typeface="Arial" pitchFamily="34" charset="0"/>
                <a:ea typeface="Arial" pitchFamily="34" charset="-122"/>
                <a:cs typeface="Arial" pitchFamily="34" charset="-120"/>
              </a:rPr>
              <a:t>Executive Overview</a:t>
            </a:r>
            <a:endParaRPr lang="en-US" sz="1400" dirty="0"/>
          </a:p>
        </p:txBody>
      </p:sp>
      <p:sp>
        <p:nvSpPr>
          <p:cNvPr id="8" name="Text 5"/>
          <p:cNvSpPr/>
          <p:nvPr/>
        </p:nvSpPr>
        <p:spPr>
          <a:xfrm>
            <a:off x="8183880" y="2468880"/>
            <a:ext cx="3383280" cy="20116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6B6B70"/>
                </a:solidFill>
                <a:latin typeface="Arial" pitchFamily="34" charset="0"/>
                <a:ea typeface="Arial" pitchFamily="34" charset="-122"/>
                <a:cs typeface="Arial" pitchFamily="34" charset="-120"/>
              </a:rPr>
              <a:t>Revenue, orders, customers &amp; average ship days at a glance</a:t>
            </a:r>
            <a:endParaRPr lang="en-US" sz="1200" dirty="0"/>
          </a:p>
          <a:p>
            <a:pPr marL="342900" indent="-342900">
              <a:spcAft>
                <a:spcPts val="800"/>
              </a:spcAft>
              <a:buSzPct val="100000"/>
              <a:buChar char="•"/>
            </a:pPr>
            <a:r>
              <a:rPr lang="en-US" sz="1200" dirty="0">
                <a:solidFill>
                  <a:srgbClr val="6B6B70"/>
                </a:solidFill>
                <a:latin typeface="Arial" pitchFamily="34" charset="0"/>
                <a:ea typeface="Arial" pitchFamily="34" charset="-122"/>
                <a:cs typeface="Arial" pitchFamily="34" charset="-120"/>
              </a:rPr>
              <a:t>Regional &amp; segment share, side by side</a:t>
            </a:r>
            <a:endParaRPr lang="en-US" sz="1200" dirty="0"/>
          </a:p>
          <a:p>
            <a:pPr marL="342900" indent="-342900">
              <a:spcAft>
                <a:spcPts val="800"/>
              </a:spcAft>
              <a:buSzPct val="100000"/>
              <a:buChar char="•"/>
            </a:pPr>
            <a:r>
              <a:rPr lang="en-US" sz="1200" dirty="0">
                <a:solidFill>
                  <a:srgbClr val="6B6B70"/>
                </a:solidFill>
                <a:latin typeface="Arial" pitchFamily="34" charset="0"/>
                <a:ea typeface="Arial" pitchFamily="34" charset="-122"/>
                <a:cs typeface="Arial" pitchFamily="34" charset="-120"/>
              </a:rPr>
              <a:t>Monthly sales trend across all 4 years</a:t>
            </a:r>
            <a:endParaRPr lang="en-US" sz="1200" dirty="0"/>
          </a:p>
        </p:txBody>
      </p:sp>
      <p:sp>
        <p:nvSpPr>
          <p:cNvPr id="9" name="Text 6"/>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200" b="1" kern="0" spc="200" dirty="0">
                <a:solidFill>
                  <a:srgbClr val="0B5FCC"/>
                </a:solidFill>
                <a:latin typeface="Arial" pitchFamily="34" charset="0"/>
                <a:ea typeface="Arial" pitchFamily="34" charset="-122"/>
                <a:cs typeface="Arial" pitchFamily="34" charset="-120"/>
              </a:rPr>
              <a:t>THE DELIVERABLE</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marL="0" indent="0">
              <a:buNone/>
            </a:pPr>
            <a:r>
              <a:rPr lang="en-US" sz="3000" b="1" dirty="0">
                <a:solidFill>
                  <a:srgbClr val="0B0B0F"/>
                </a:solidFill>
                <a:latin typeface="Arial" pitchFamily="34" charset="0"/>
                <a:ea typeface="Arial" pitchFamily="34" charset="-122"/>
                <a:cs typeface="Arial" pitchFamily="34" charset="-120"/>
              </a:rPr>
              <a:t>More Views From the Dashboard</a:t>
            </a:r>
            <a:endParaRPr lang="en-US" sz="3000" dirty="0"/>
          </a:p>
        </p:txBody>
      </p:sp>
      <p:sp>
        <p:nvSpPr>
          <p:cNvPr id="4" name="Shape 2"/>
          <p:cNvSpPr/>
          <p:nvPr/>
        </p:nvSpPr>
        <p:spPr>
          <a:xfrm>
            <a:off x="548640" y="1828800"/>
            <a:ext cx="3611880" cy="2743200"/>
          </a:xfrm>
          <a:prstGeom prst="roundRect">
            <a:avLst>
              <a:gd name="adj" fmla="val 1667"/>
            </a:avLst>
          </a:prstGeom>
          <a:solidFill>
            <a:srgbClr val="FFFFFF"/>
          </a:solidFill>
          <a:ln w="12700">
            <a:solidFill>
              <a:srgbClr val="D8E8FF"/>
            </a:solidFill>
            <a:prstDash val="solid"/>
          </a:ln>
          <a:effectLst>
            <a:outerShdw blurRad="101600" dist="25400" dir="5400000" algn="bl" rotWithShape="0">
              <a:srgbClr val="0B5FCC">
                <a:alpha val="8000"/>
              </a:srgbClr>
            </a:outerShdw>
          </a:effectLst>
        </p:spPr>
        <p:txBody>
          <a:bodyPr/>
          <a:lstStyle/>
          <a:p>
            <a:endParaRPr lang="en-US"/>
          </a:p>
        </p:txBody>
      </p:sp>
      <p:pic>
        <p:nvPicPr>
          <p:cNvPr id="5" name="Image 0" descr="images/dash2.jpeg"/>
          <p:cNvPicPr>
            <a:picLocks noChangeAspect="1"/>
          </p:cNvPicPr>
          <p:nvPr/>
        </p:nvPicPr>
        <p:blipFill>
          <a:blip r:embed="rId3"/>
          <a:srcRect/>
          <a:stretch/>
        </p:blipFill>
        <p:spPr>
          <a:xfrm>
            <a:off x="621792" y="1901952"/>
            <a:ext cx="3465576" cy="2596896"/>
          </a:xfrm>
          <a:prstGeom prst="rect">
            <a:avLst/>
          </a:prstGeom>
        </p:spPr>
      </p:pic>
      <p:sp>
        <p:nvSpPr>
          <p:cNvPr id="6" name="Text 3"/>
          <p:cNvSpPr/>
          <p:nvPr/>
        </p:nvSpPr>
        <p:spPr>
          <a:xfrm>
            <a:off x="548640" y="4709160"/>
            <a:ext cx="3611880" cy="548640"/>
          </a:xfrm>
          <a:prstGeom prst="rect">
            <a:avLst/>
          </a:prstGeom>
          <a:noFill/>
          <a:ln/>
        </p:spPr>
        <p:txBody>
          <a:bodyPr wrap="square" lIns="0" tIns="0" rIns="0" bIns="0" rtlCol="0" anchor="ctr"/>
          <a:lstStyle/>
          <a:p>
            <a:pPr marL="0" indent="0" algn="ctr">
              <a:buNone/>
            </a:pPr>
            <a:r>
              <a:rPr lang="en-US" sz="1200" b="1" dirty="0">
                <a:solidFill>
                  <a:srgbClr val="0B0B0F"/>
                </a:solidFill>
                <a:latin typeface="Arial" pitchFamily="34" charset="0"/>
                <a:ea typeface="Arial" pitchFamily="34" charset="-122"/>
                <a:cs typeface="Arial" pitchFamily="34" charset="-120"/>
              </a:rPr>
              <a:t>Category &amp; Sub-Category Breakdown</a:t>
            </a:r>
            <a:endParaRPr lang="en-US" sz="1200" dirty="0"/>
          </a:p>
        </p:txBody>
      </p:sp>
      <p:sp>
        <p:nvSpPr>
          <p:cNvPr id="7" name="Shape 4"/>
          <p:cNvSpPr/>
          <p:nvPr/>
        </p:nvSpPr>
        <p:spPr>
          <a:xfrm>
            <a:off x="4389120" y="1828800"/>
            <a:ext cx="3611880" cy="2743200"/>
          </a:xfrm>
          <a:prstGeom prst="roundRect">
            <a:avLst>
              <a:gd name="adj" fmla="val 1667"/>
            </a:avLst>
          </a:prstGeom>
          <a:solidFill>
            <a:srgbClr val="FFFFFF"/>
          </a:solidFill>
          <a:ln w="12700">
            <a:solidFill>
              <a:srgbClr val="D8E8FF"/>
            </a:solidFill>
            <a:prstDash val="solid"/>
          </a:ln>
          <a:effectLst>
            <a:outerShdw blurRad="101600" dist="25400" dir="5400000" algn="bl" rotWithShape="0">
              <a:srgbClr val="0B5FCC">
                <a:alpha val="8000"/>
              </a:srgbClr>
            </a:outerShdw>
          </a:effectLst>
        </p:spPr>
        <p:txBody>
          <a:bodyPr/>
          <a:lstStyle/>
          <a:p>
            <a:endParaRPr lang="en-US"/>
          </a:p>
        </p:txBody>
      </p:sp>
      <p:pic>
        <p:nvPicPr>
          <p:cNvPr id="8" name="Image 1" descr="images/dash3.jpeg"/>
          <p:cNvPicPr>
            <a:picLocks noChangeAspect="1"/>
          </p:cNvPicPr>
          <p:nvPr/>
        </p:nvPicPr>
        <p:blipFill>
          <a:blip r:embed="rId4"/>
          <a:srcRect/>
          <a:stretch/>
        </p:blipFill>
        <p:spPr>
          <a:xfrm>
            <a:off x="4462272" y="1901952"/>
            <a:ext cx="3465576" cy="2596896"/>
          </a:xfrm>
          <a:prstGeom prst="rect">
            <a:avLst/>
          </a:prstGeom>
        </p:spPr>
      </p:pic>
      <p:sp>
        <p:nvSpPr>
          <p:cNvPr id="9" name="Text 5"/>
          <p:cNvSpPr/>
          <p:nvPr/>
        </p:nvSpPr>
        <p:spPr>
          <a:xfrm>
            <a:off x="4389120" y="4709160"/>
            <a:ext cx="3611880" cy="548640"/>
          </a:xfrm>
          <a:prstGeom prst="rect">
            <a:avLst/>
          </a:prstGeom>
          <a:noFill/>
          <a:ln/>
        </p:spPr>
        <p:txBody>
          <a:bodyPr wrap="square" lIns="0" tIns="0" rIns="0" bIns="0" rtlCol="0" anchor="ctr"/>
          <a:lstStyle/>
          <a:p>
            <a:pPr marL="0" indent="0" algn="ctr">
              <a:buNone/>
            </a:pPr>
            <a:r>
              <a:rPr lang="en-US" sz="1200" b="1" dirty="0">
                <a:solidFill>
                  <a:srgbClr val="0B0B0F"/>
                </a:solidFill>
                <a:latin typeface="Arial" pitchFamily="34" charset="0"/>
                <a:ea typeface="Arial" pitchFamily="34" charset="-122"/>
                <a:cs typeface="Arial" pitchFamily="34" charset="-120"/>
              </a:rPr>
              <a:t>Geographic Sales &amp; Top Cities</a:t>
            </a:r>
            <a:endParaRPr lang="en-US" sz="1200" dirty="0"/>
          </a:p>
        </p:txBody>
      </p:sp>
      <p:sp>
        <p:nvSpPr>
          <p:cNvPr id="10" name="Shape 6"/>
          <p:cNvSpPr/>
          <p:nvPr/>
        </p:nvSpPr>
        <p:spPr>
          <a:xfrm>
            <a:off x="8229600" y="1828800"/>
            <a:ext cx="3611880" cy="2743200"/>
          </a:xfrm>
          <a:prstGeom prst="roundRect">
            <a:avLst>
              <a:gd name="adj" fmla="val 1667"/>
            </a:avLst>
          </a:prstGeom>
          <a:solidFill>
            <a:srgbClr val="FFFFFF"/>
          </a:solidFill>
          <a:ln w="12700">
            <a:solidFill>
              <a:srgbClr val="D8E8FF"/>
            </a:solidFill>
            <a:prstDash val="solid"/>
          </a:ln>
          <a:effectLst>
            <a:outerShdw blurRad="101600" dist="25400" dir="5400000" algn="bl" rotWithShape="0">
              <a:srgbClr val="0B5FCC">
                <a:alpha val="8000"/>
              </a:srgbClr>
            </a:outerShdw>
          </a:effectLst>
        </p:spPr>
        <p:txBody>
          <a:bodyPr/>
          <a:lstStyle/>
          <a:p>
            <a:endParaRPr lang="en-US"/>
          </a:p>
        </p:txBody>
      </p:sp>
      <p:pic>
        <p:nvPicPr>
          <p:cNvPr id="11" name="Image 2" descr="images/dash1.jpeg"/>
          <p:cNvPicPr>
            <a:picLocks noChangeAspect="1"/>
          </p:cNvPicPr>
          <p:nvPr/>
        </p:nvPicPr>
        <p:blipFill>
          <a:blip r:embed="rId5"/>
          <a:srcRect/>
          <a:stretch/>
        </p:blipFill>
        <p:spPr>
          <a:xfrm>
            <a:off x="8302752" y="1901952"/>
            <a:ext cx="3465576" cy="2596896"/>
          </a:xfrm>
          <a:prstGeom prst="rect">
            <a:avLst/>
          </a:prstGeom>
        </p:spPr>
      </p:pic>
      <p:sp>
        <p:nvSpPr>
          <p:cNvPr id="12" name="Text 7"/>
          <p:cNvSpPr/>
          <p:nvPr/>
        </p:nvSpPr>
        <p:spPr>
          <a:xfrm>
            <a:off x="8229600" y="4709160"/>
            <a:ext cx="3611880" cy="548640"/>
          </a:xfrm>
          <a:prstGeom prst="rect">
            <a:avLst/>
          </a:prstGeom>
          <a:noFill/>
          <a:ln/>
        </p:spPr>
        <p:txBody>
          <a:bodyPr wrap="square" lIns="0" tIns="0" rIns="0" bIns="0" rtlCol="0" anchor="ctr"/>
          <a:lstStyle/>
          <a:p>
            <a:pPr marL="0" indent="0" algn="ctr">
              <a:buNone/>
            </a:pPr>
            <a:r>
              <a:rPr lang="en-US" sz="1200" b="1" dirty="0">
                <a:solidFill>
                  <a:srgbClr val="0B0B0F"/>
                </a:solidFill>
                <a:latin typeface="Arial" pitchFamily="34" charset="0"/>
                <a:ea typeface="Arial" pitchFamily="34" charset="-122"/>
                <a:cs typeface="Arial" pitchFamily="34" charset="-120"/>
              </a:rPr>
              <a:t>Shipping Mode Trends Over Time</a:t>
            </a:r>
            <a:endParaRPr lang="en-US" sz="1200" dirty="0"/>
          </a:p>
        </p:txBody>
      </p:sp>
      <p:sp>
        <p:nvSpPr>
          <p:cNvPr id="13" name="Text 8"/>
          <p:cNvSpPr/>
          <p:nvPr/>
        </p:nvSpPr>
        <p:spPr>
          <a:xfrm>
            <a:off x="11338560" y="6355080"/>
            <a:ext cx="548640" cy="274320"/>
          </a:xfrm>
          <a:prstGeom prst="rect">
            <a:avLst/>
          </a:prstGeom>
          <a:noFill/>
          <a:ln/>
        </p:spPr>
        <p:txBody>
          <a:bodyPr wrap="square" lIns="0" tIns="0" rIns="0" bIns="0" rtlCol="0" anchor="ctr"/>
          <a:lstStyle/>
          <a:p>
            <a:pPr marL="0" indent="0" algn="r">
              <a:buNone/>
            </a:pPr>
            <a:r>
              <a:rPr lang="en-US" sz="1000" dirty="0">
                <a:solidFill>
                  <a:srgbClr val="6B6B70"/>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2960" y="1371600"/>
            <a:ext cx="502920" cy="502920"/>
          </a:xfrm>
          <a:prstGeom prst="rect">
            <a:avLst/>
          </a:prstGeom>
        </p:spPr>
      </p:pic>
      <p:sp>
        <p:nvSpPr>
          <p:cNvPr id="3" name="Text 0"/>
          <p:cNvSpPr/>
          <p:nvPr/>
        </p:nvSpPr>
        <p:spPr>
          <a:xfrm>
            <a:off x="777240" y="1965960"/>
            <a:ext cx="9144000" cy="1188720"/>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Thank </a:t>
            </a:r>
            <a:r>
              <a:rPr lang="en-US" sz="5200" b="1" dirty="0">
                <a:solidFill>
                  <a:srgbClr val="108EFF"/>
                </a:solidFill>
                <a:latin typeface="Arial" pitchFamily="34" charset="0"/>
                <a:ea typeface="Arial" pitchFamily="34" charset="-122"/>
                <a:cs typeface="Arial" pitchFamily="34" charset="-120"/>
              </a:rPr>
              <a:t>You</a:t>
            </a:r>
            <a:endParaRPr lang="en-US" sz="5200" dirty="0"/>
          </a:p>
        </p:txBody>
      </p:sp>
      <p:sp>
        <p:nvSpPr>
          <p:cNvPr id="4" name="Text 1"/>
          <p:cNvSpPr/>
          <p:nvPr/>
        </p:nvSpPr>
        <p:spPr>
          <a:xfrm>
            <a:off x="822960" y="3200400"/>
            <a:ext cx="8229600" cy="457200"/>
          </a:xfrm>
          <a:prstGeom prst="rect">
            <a:avLst/>
          </a:prstGeom>
          <a:noFill/>
          <a:ln/>
        </p:spPr>
        <p:txBody>
          <a:bodyPr wrap="square" lIns="0" tIns="0" rIns="0" bIns="0" rtlCol="0" anchor="ctr"/>
          <a:lstStyle/>
          <a:p>
            <a:pPr marL="0" indent="0">
              <a:buNone/>
            </a:pPr>
            <a:r>
              <a:rPr lang="en-US" sz="1600" dirty="0">
                <a:solidFill>
                  <a:srgbClr val="CCD6E0"/>
                </a:solidFill>
                <a:latin typeface="Arial" pitchFamily="34" charset="0"/>
                <a:ea typeface="Arial" pitchFamily="34" charset="-122"/>
                <a:cs typeface="Arial" pitchFamily="34" charset="-120"/>
              </a:rPr>
              <a:t>From a messy spreadsheet to a dashboard our client runs their business on.</a:t>
            </a:r>
            <a:endParaRPr lang="en-US" sz="1600" dirty="0"/>
          </a:p>
        </p:txBody>
      </p:sp>
      <p:sp>
        <p:nvSpPr>
          <p:cNvPr id="5" name="Shape 2"/>
          <p:cNvSpPr/>
          <p:nvPr/>
        </p:nvSpPr>
        <p:spPr>
          <a:xfrm>
            <a:off x="841248" y="3794760"/>
            <a:ext cx="1463040" cy="0"/>
          </a:xfrm>
          <a:prstGeom prst="line">
            <a:avLst/>
          </a:prstGeom>
          <a:noFill/>
          <a:ln w="38100">
            <a:solidFill>
              <a:srgbClr val="108EFF"/>
            </a:solidFill>
            <a:prstDash val="solid"/>
          </a:ln>
        </p:spPr>
        <p:txBody>
          <a:bodyPr/>
          <a:lstStyle/>
          <a:p>
            <a:endParaRPr lang="en-US"/>
          </a:p>
        </p:txBody>
      </p:sp>
      <p:sp>
        <p:nvSpPr>
          <p:cNvPr id="6" name="Text 3"/>
          <p:cNvSpPr/>
          <p:nvPr/>
        </p:nvSpPr>
        <p:spPr>
          <a:xfrm>
            <a:off x="822960" y="3931920"/>
            <a:ext cx="731520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1108</Words>
  <Application>Microsoft Office PowerPoint</Application>
  <PresentationFormat>Widescreen</PresentationFormat>
  <Paragraphs>159</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Raw Rows to Retail Insight</dc:title>
  <dc:subject>PptxGenJS Presentation</dc:subject>
  <dc:creator>Team</dc:creator>
  <cp:lastModifiedBy>Youssef M. Fatohy</cp:lastModifiedBy>
  <cp:revision>2</cp:revision>
  <dcterms:created xsi:type="dcterms:W3CDTF">2026-07-04T18:11:51Z</dcterms:created>
  <dcterms:modified xsi:type="dcterms:W3CDTF">2026-07-04T19:27:36Z</dcterms:modified>
</cp:coreProperties>
</file>